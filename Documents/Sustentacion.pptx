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087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INSTITUTO TECNOLÓGICO METROPOLITANO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0879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Proyecto de Análisis de Datos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y Modelo Predictivo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0879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i="0">
                <a:solidFill>
                  <a:srgbClr val="FDB813"/>
                </a:solidFill>
                <a:latin typeface="Calibri"/>
              </a:rPr>
              <a:t>Caso: marketplace brasileño Olist (2017-2018)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Carlos Alberto Moreno David · Juan Esteban García Ocampo · Emiliano Vélez Suárez · Sebastián Ciro Medellín  ·  Mayo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Docentes: Carlos Jaramillo · Gustavo Macias · Daniel Nieto · July Galeano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07899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1. El problema de negocio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7335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2. Datos y metodología (5 fases)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3. Fase 1 — ETL y modelo dimensional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86207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4. Fase 2 — EDA, KPIs y hipótesis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45643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5. Fase 3 — Dashboard de BI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50791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6. Fase 4 — Modelado predictivo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7. Fase 5 — Conclusiones y 7 recomendaciones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57800"/>
            <a:ext cx="109728" cy="4572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239512"/>
            <a:ext cx="10058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8. Limitaciones, ética y próximos pasos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El problema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1F3A68"/>
                </a:solidFill>
                <a:latin typeface="Calibri"/>
              </a:rPr>
              <a:t>Predecir si una orden recibirá una reseña positiva (≥4★)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0">
                <a:solidFill>
                  <a:srgbClr val="607080"/>
                </a:solidFill>
                <a:latin typeface="Calibri"/>
              </a:rPr>
              <a:t>...a partir de variables observables al momento de cerrar la orden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60320"/>
            <a:ext cx="530352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¿Por qué importa?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22.4% de clientes hoy quedan insatisfechos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Una reseña negativa publicada es ~10× más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costosa que prevenirla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Permite intervención proactiva del CRM: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comunicación, ajuste logístico, cupón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Alimenta la PN10 del dashboard: 'órdenes 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9496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riesgo' priorizadas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5303520" cy="3291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¿Por qué clasificación binaria?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Necesitamos una bandera ACCIONABLE (sí/no)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review_score es ordinal — no estrictamente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numérico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29768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Distribución bimodal: la mayoría son 5 o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6344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Una regresión genera predicciones 'en 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  centro' que no son accionables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394960"/>
            <a:ext cx="5029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• Target: is_positive_review (1 si score ≥ 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2. Datos y metodología — 5 fases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1F3A68"/>
                </a:solidFill>
                <a:latin typeface="Calibri"/>
              </a:rPr>
              <a:t>Dataset: Brazilian E-Commerce by Olist · 98 666 órdenes · 2017-2018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2103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20116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Recopilación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+ ETL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03320"/>
            <a:ext cx="201168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9 CSV → estrella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12/12 validaciones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194560"/>
            <a:ext cx="2103120" cy="5029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2194560"/>
            <a:ext cx="2103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2788920"/>
            <a:ext cx="20116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703320"/>
            <a:ext cx="201168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KPIs + 5 hipótesis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stats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2103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20116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Inteligencia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de Negocios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703320"/>
            <a:ext cx="201168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Dashboard PBI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+ HTML espejo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194560"/>
            <a:ext cx="2103120" cy="5029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0" y="2194560"/>
            <a:ext cx="2103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60920" y="2788920"/>
            <a:ext cx="20116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Modelo</a:t>
            </a:r>
          </a:p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Predictivo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703320"/>
            <a:ext cx="201168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XGBoost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AUC = 0.70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200" y="2194560"/>
            <a:ext cx="210312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0" y="2194560"/>
            <a:ext cx="2103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Fase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697480"/>
            <a:ext cx="2103120" cy="2286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46920" y="2788920"/>
            <a:ext cx="20116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3A68"/>
                </a:solidFill>
                <a:latin typeface="Calibri"/>
              </a:rPr>
              <a:t>Conclusiones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3703320"/>
            <a:ext cx="201168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7 recomendaciones</a:t>
            </a:r>
          </a:p>
          <a:p>
            <a:pPr algn="ctr"/>
            <a:r>
              <a:rPr sz="1200" b="0" i="0">
                <a:solidFill>
                  <a:srgbClr val="607080"/>
                </a:solidFill>
                <a:latin typeface="Calibri"/>
              </a:rPr>
              <a:t>impacto +4 p.p.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 i="0">
                <a:solidFill>
                  <a:srgbClr val="607080"/>
                </a:solidFill>
                <a:latin typeface="Calibri"/>
              </a:rPr>
              <a:t>Stack: Python · pandas · scikit-learn · XGBoost · Power BI · DAX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3. Fase 1 — ETL y modelo dimensional estrella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5669280" cy="4572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5303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Esquema estrella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926080"/>
            <a:ext cx="1463040" cy="7315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0" y="2926080"/>
            <a:ext cx="146304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OrderItems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(95k)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389120"/>
            <a:ext cx="146304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4389120"/>
            <a:ext cx="14630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Payments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7373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17373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Customers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7373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17373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Sellers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1089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1089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0" y="31089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4805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4805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Reviews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4480560"/>
            <a:ext cx="128016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44805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 i="0">
                <a:solidFill>
                  <a:srgbClr val="1F3A68"/>
                </a:solidFill>
                <a:latin typeface="Calibri"/>
              </a:rPr>
              <a:t>Geography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097280"/>
            <a:ext cx="48463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Calidad del ETL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737360"/>
            <a:ext cx="1828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12/12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182880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Validaciones de integridad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514600"/>
            <a:ext cx="1828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98 666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60604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órdenes con datos completos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291839"/>
            <a:ext cx="1828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19 015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38328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zip codes únicos (de 1M crudos)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069079"/>
            <a:ext cx="1828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0 huérfanos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16052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Foreign keys 100% válidas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846320"/>
            <a:ext cx="1828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DB813"/>
                </a:solidFill>
                <a:latin typeface="Calibri"/>
              </a:rPr>
              <a:t>Reproducible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3776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Pipeline parametrizado por rutas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Fase 2 — KPIs operativos del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CSAT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77.6%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Meta 80%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09728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23444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OTIF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64592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91.9%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9748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Meta ≥95%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09728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Ticket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4592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R$ 161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9748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p99 R$1k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09728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109728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123444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Días entrega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164592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12.6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69748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Mediana 10 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56616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370332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Cancelación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1480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0.47%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Sano &lt;1%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37560" y="3566160"/>
            <a:ext cx="109728" cy="219456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0" y="370332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Top-3 conc.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1480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66.6%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16636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Riesgo alto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3566160"/>
            <a:ext cx="109728" cy="2194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370332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Score promedio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11480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4.10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516636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Escala 1-5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3566160"/>
            <a:ext cx="274320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098280" y="3566160"/>
            <a:ext cx="109728" cy="219456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326880" y="3703320"/>
            <a:ext cx="2468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Reviews neg.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114800"/>
            <a:ext cx="24688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 i="0">
                <a:solidFill>
                  <a:srgbClr val="1F3A68"/>
                </a:solidFill>
                <a:latin typeface="Calibri"/>
              </a:rPr>
              <a:t>22.4%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5166360"/>
            <a:ext cx="24688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Oportunidad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4.1 Fase 2 — Las 5 hipótesis: TODAS rechazadas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8813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α = 0.05 · todas las H0 rechazadas con margen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864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645920"/>
            <a:ext cx="62179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1645920"/>
            <a:ext cx="6217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Hipótesis nula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45920"/>
            <a:ext cx="16459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1645920"/>
            <a:ext cx="16459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1645920"/>
            <a:ext cx="128016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0" y="1645920"/>
            <a:ext cx="128016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p-valor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20" y="1645920"/>
            <a:ext cx="118872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32720" y="1645920"/>
            <a:ext cx="1188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103120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6217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Tiempo de entrega = entre reseñas + y 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103120"/>
            <a:ext cx="1645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Mann-Whitney 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10312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2103120"/>
            <a:ext cx="11887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651760"/>
            <a:ext cx="6217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is_late independiente de reseña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1645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Chi-cuadrado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65176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2651760"/>
            <a:ext cx="11887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200400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200400"/>
            <a:ext cx="6217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Método de pago independiente de reseña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200400"/>
            <a:ext cx="1645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Chi-cuadrado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20040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3200400"/>
            <a:ext cx="11887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74904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3749040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3749040"/>
            <a:ext cx="6217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Cuotas y review_score NO correlacionados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749040"/>
            <a:ext cx="1645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Spearman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74904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3749040"/>
            <a:ext cx="11887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97680"/>
            <a:ext cx="108813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H5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297680"/>
            <a:ext cx="6217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Tiempo entrega = sudeste vs resto país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297680"/>
            <a:ext cx="16459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Mann-Whitney 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297680"/>
            <a:ext cx="12801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4297680"/>
            <a:ext cx="118872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C62828"/>
                </a:solidFill>
                <a:latin typeface="Calibri"/>
              </a:rPr>
              <a:t>RECHAZADA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8680" y="52120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Conclusión: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7784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La logística y la geografía SÍ son drivers reales de la satisfacción · evidencia robusta para Fase 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4.2 Fase 2 — Visualizaciones clave del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2_csat_men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852160" cy="2651760"/>
          </a:xfrm>
          <a:prstGeom prst="rect">
            <a:avLst/>
          </a:prstGeom>
        </p:spPr>
      </p:pic>
      <p:pic>
        <p:nvPicPr>
          <p:cNvPr id="6" name="Picture 5" descr="05_pareto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914400"/>
            <a:ext cx="5486400" cy="2651760"/>
          </a:xfrm>
          <a:prstGeom prst="rect">
            <a:avLst/>
          </a:prstGeom>
        </p:spPr>
      </p:pic>
      <p:pic>
        <p:nvPicPr>
          <p:cNvPr id="7" name="Picture 6" descr="06_boxplot_delivery_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03320"/>
            <a:ext cx="5852160" cy="2651760"/>
          </a:xfrm>
          <a:prstGeom prst="rect">
            <a:avLst/>
          </a:prstGeom>
        </p:spPr>
      </p:pic>
      <p:pic>
        <p:nvPicPr>
          <p:cNvPr id="8" name="Picture 7" descr="08_heatmap_cat_es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48640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Fase 3 — Dashboard BI · 3 páginas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6576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Resumen ejecutivo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general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32918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KPI cards + serie temporal CSAT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005840"/>
            <a:ext cx="3657600" cy="54864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1005840"/>
            <a:ext cx="36576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1691640"/>
            <a:ext cx="3291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Operación y logística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operaciones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918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Mapa Brasil + OTIF + Pareto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005840"/>
            <a:ext cx="3657600" cy="5486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1005840"/>
            <a:ext cx="36576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Página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554480"/>
            <a:ext cx="3657600" cy="3840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0" y="1691640"/>
            <a:ext cx="3291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Satisfacción cliente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19456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Audiencia: Gerencia comercial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651760"/>
            <a:ext cx="32918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Treemap + heatmap + órdenes riesgo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338560" cy="7315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Capa semántica: 30+ medidas DAX + Power Query (M) + dashboard HTML espejo (Plan 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607080"/>
                </a:solidFill>
                <a:latin typeface="Calibri"/>
              </a:rPr>
              <a:t>Validación cruzada Python ↔ DAX: delta &lt; 0.05 p.p. en todas las medidas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5.1 Fase 3 — Insight: la logística es el problema regional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4_entreg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5895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097280"/>
            <a:ext cx="3017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Lectura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64592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SP (sede): 8.7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01168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PR/MG/RS: 11-13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37744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Estados del Nordeste: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74320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21-29 días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+CSAT cae 8-10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7472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FDB813"/>
                </a:solidFill>
                <a:latin typeface="Calibri"/>
              </a:rPr>
              <a:t>Hipótesis H5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84048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rechazada 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20624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p &lt; 0.001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57200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493776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→ R1: hub logístico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5303520"/>
            <a:ext cx="30175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    en Recife/Salvador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 Fase 4 — Comparación de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_cv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589520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47472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0" y="10058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F3A68"/>
                </a:solidFill>
                <a:latin typeface="Calibri"/>
              </a:rPr>
              <a:t>Validación cruzada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55448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554480"/>
            <a:ext cx="1097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0.50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554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trivial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14884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RegLog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48840"/>
            <a:ext cx="1097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214884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buena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4320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RandomForest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43200"/>
            <a:ext cx="1097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274320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no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3756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XGBoost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337560"/>
            <a:ext cx="1097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FDB813"/>
                </a:solidFill>
                <a:latin typeface="Calibri"/>
              </a:rPr>
              <a:t>AUC = 0.70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333756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elegido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1338560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F3A68"/>
                </a:solidFill>
                <a:latin typeface="Calibri"/>
              </a:rPr>
              <a:t>¿Por qué XGBoost?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Velocidad de entrenamiento y soporte nativo a desbalance (scale_pos_weight)</a:t>
            </a:r>
          </a:p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Empate técnico en AUC con Random Forest, pero 4× más rápido</a:t>
            </a:r>
          </a:p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Más maduro en producción y mejor soporte para SHAP/permutation importance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6.1 Fase 4 — Evaluación final XGBoost (test set)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3_roc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863840" cy="3200400"/>
          </a:xfrm>
          <a:prstGeom prst="rect">
            <a:avLst/>
          </a:prstGeom>
        </p:spPr>
      </p:pic>
      <p:pic>
        <p:nvPicPr>
          <p:cNvPr id="6" name="Picture 5" descr="02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3657600" cy="2468880"/>
          </a:xfrm>
          <a:prstGeom prst="rect">
            <a:avLst/>
          </a:prstGeom>
        </p:spPr>
      </p:pic>
      <p:pic>
        <p:nvPicPr>
          <p:cNvPr id="7" name="Picture 6" descr="04_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4114800"/>
            <a:ext cx="365760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20" y="10058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503920" y="10058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0" y="1097280"/>
            <a:ext cx="3108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417320"/>
            <a:ext cx="31089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0.748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3774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03920" y="23774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0" y="2468880"/>
            <a:ext cx="3108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788920"/>
            <a:ext cx="31089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0.837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749039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03920" y="3749039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0" y="3840479"/>
            <a:ext cx="3108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160519"/>
            <a:ext cx="31089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0.705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120640"/>
            <a:ext cx="329184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03920" y="5120640"/>
            <a:ext cx="91440" cy="118872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0" y="5212080"/>
            <a:ext cx="31089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607080"/>
                </a:solidFill>
                <a:latin typeface="Calibri"/>
              </a:rPr>
              <a:t>PR-AUC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532120"/>
            <a:ext cx="31089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1" i="0">
                <a:solidFill>
                  <a:srgbClr val="1F3A68"/>
                </a:solidFill>
                <a:latin typeface="Calibri"/>
              </a:rPr>
              <a:t>0.874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6.2 Fase 4 — Interpretabilidad: ¿qué pesa 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6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64008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5720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1F3A68"/>
                </a:solidFill>
                <a:latin typeface="Calibri"/>
              </a:rPr>
              <a:t>Top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55448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delivery_days_real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55448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−0.044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155448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4884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4884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n_items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14884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214884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Tamaño orden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74320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74320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delivery_delay_days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74320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Retraso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3756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4.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33756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first_product_category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333756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333756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Categoría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93192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93192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customer_state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93192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393192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Geografía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526280"/>
            <a:ext cx="274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FDB813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526280"/>
            <a:ext cx="2286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onsolas"/>
              </a:rPr>
              <a:t>n_distinct_sellers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452628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07080"/>
                </a:solidFill>
                <a:latin typeface="Calibri"/>
              </a:rPr>
              <a:t>−0.003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452628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FDB813"/>
                </a:solidFill>
                <a:latin typeface="Calibri"/>
              </a:rPr>
              <a:t>Complejidad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80760"/>
            <a:ext cx="1133856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3A68"/>
                </a:solidFill>
                <a:latin typeface="Calibri"/>
              </a:rPr>
              <a:t>Confirma H1 y H2 del EDA: la logística es el driver dominante. Lo estadístico predijo lo predictivo.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7. Fase 5 — 7 recomendaciones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0" cy="640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960120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051560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Hubs logísticos en Nordeste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960120"/>
            <a:ext cx="2194560" cy="6400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0" y="960120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+1.5 a +2.0 p.p.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73352"/>
            <a:ext cx="91440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673352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1673352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00200" y="1764792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Auditoría categorías CSAT &lt; 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0" y="1673352"/>
            <a:ext cx="219456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0" y="1673352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+0.8 p.p.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86584"/>
            <a:ext cx="91440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386584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2386584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2478024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Modelo predictivo en el CRM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2386584"/>
            <a:ext cx="219456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2386584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+1.0 a +1.5 p.p.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99815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3099815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3099815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00200" y="3191255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Diversificación geográfica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3099815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0" y="3099815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Riesgo 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813048"/>
            <a:ext cx="91440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813048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3813048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904488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Comunicación proactiva cuotas &gt;6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3813048"/>
            <a:ext cx="2194560" cy="6400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01200" y="3813048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+0.4 p.p.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526280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4526280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71600" y="4526280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600200" y="4617720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Plan operativo Black Friday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1200" y="4526280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601200" y="4526280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Evita −1.0 p.p.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239512"/>
            <a:ext cx="91440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239512"/>
            <a:ext cx="914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" y="5239512"/>
            <a:ext cx="822960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600200" y="5330952"/>
            <a:ext cx="78638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3A68"/>
                </a:solidFill>
                <a:latin typeface="Calibri"/>
              </a:rPr>
              <a:t>Comité ejecutivo semanal del dashboard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1200" y="5239512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601200" y="5239512"/>
            <a:ext cx="219456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Indirecto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126480"/>
            <a:ext cx="11338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FDB813"/>
                </a:solidFill>
                <a:latin typeface="Calibri"/>
              </a:rPr>
              <a:t>Impacto agregado esperado: +3.7 a +4.7 p.p. CSAT en 12 meses · de 77.6% → ~82%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7.1 Hoja de ruta — 90 / 180 / 365 días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5760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90 días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2918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Comité semanal (R7)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Modelo en producción (R3)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Auditoría 3 categorías (R2)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188720"/>
            <a:ext cx="3657600" cy="91440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43400" y="1188720"/>
            <a:ext cx="365760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180 días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2918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Programa cuotas largas (R5)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Plan Black Friday (R6)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365 días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103120"/>
            <a:ext cx="3657600" cy="3657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286000"/>
            <a:ext cx="329184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Hub logístico Recife/Salvador (R1)</a:t>
            </a:r>
          </a:p>
          <a:p>
            <a:pPr algn="l"/>
            <a:r>
              <a:rPr sz="1400" b="0" i="0">
                <a:solidFill>
                  <a:srgbClr val="1F3A68"/>
                </a:solidFill>
                <a:latin typeface="Calibri"/>
              </a:rPr>
              <a:t>Diversificación geográfica (R4)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11338560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1F3A68"/>
                </a:solidFill>
                <a:latin typeface="Calibri"/>
              </a:rPr>
              <a:t>Quick win: R3 + R7 en 90 días — pone a producir el modelo y a usar el dashboard semanalmente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Limitaciones, ética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577840" cy="5212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5303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Limitaciones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Datos cerrados en 2018 (pre-pandemia)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Sin texto de reseñas (NLP fuera de alcance)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AUC=0.70: razonable, no excelente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5468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Split aleatorio, no temporal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Sin tuning exhaustivo (Optuna pendiente)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Validación observacional, no A/B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6344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F3A68"/>
                </a:solidFill>
                <a:latin typeface="Calibri"/>
              </a:rPr>
              <a:t>• Sesgo de selección regional (66% sudeste)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05840"/>
            <a:ext cx="5577840" cy="5212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143000"/>
            <a:ext cx="53035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Ética + próximos pasos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4592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Datos anonimizados desde la fuente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574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No usa variables protegidas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Features operacionales (no socio-dem.)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88036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✓ Human-in-the-loop en intervenciones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370332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3A68"/>
                </a:solidFill>
                <a:latin typeface="Calibri"/>
              </a:rPr>
              <a:t>Siguientes: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NLP sobre las reseñas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Modelo enriquecido + texto + RFM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3776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Experimento A/B para validar R3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3492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F3A68"/>
                </a:solidFill>
                <a:latin typeface="Calibri"/>
              </a:rPr>
              <a:t>• Refresco trimestral del modelo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46520"/>
            <a:ext cx="128016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0">
                <a:solidFill>
                  <a:srgbClr val="607080"/>
                </a:solidFill>
                <a:latin typeface="Calibri"/>
              </a:rPr>
              <a:t>Olist ·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DB8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08792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0879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"/>
              </a:rPr>
              <a:t>Las 5 fases cumplidas, los 7 artefactos entregados,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0879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 i="0">
                <a:solidFill>
                  <a:srgbClr val="FDB813"/>
                </a:solidFill>
                <a:latin typeface="Calibri"/>
              </a:rPr>
              <a:t>y un modelo en producción listo para impactar el CSAT.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087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08792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  <a:latin typeface="Calibri"/>
              </a:rPr>
              <a:t>Carlos Alberto Moreno David · Juan Esteban García Ocampo · Emiliano </a:t>
            </a:r>
            <a:r>
              <a:rPr sz="1300" b="0" i="0" dirty="0" err="1">
                <a:solidFill>
                  <a:srgbClr val="FFFFFF"/>
                </a:solidFill>
                <a:latin typeface="Calibri"/>
              </a:rPr>
              <a:t>Vélez</a:t>
            </a:r>
            <a:r>
              <a:rPr sz="1300" b="0" i="0" dirty="0">
                <a:solidFill>
                  <a:srgbClr val="FFFFFF"/>
                </a:solidFill>
                <a:latin typeface="Calibri"/>
              </a:rPr>
              <a:t> Suárez · Sebastián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Ciro Medellín </a:t>
            </a:r>
            <a:r>
              <a:rPr sz="1300" b="0" i="0" dirty="0">
                <a:solidFill>
                  <a:srgbClr val="FFFFFF"/>
                </a:solidFill>
                <a:latin typeface="Calibri"/>
              </a:rPr>
              <a:t>·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1342</Words>
  <Application>Microsoft Office PowerPoint</Application>
  <PresentationFormat>Personalizado</PresentationFormat>
  <Paragraphs>297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E</cp:lastModifiedBy>
  <cp:revision>2</cp:revision>
  <dcterms:created xsi:type="dcterms:W3CDTF">2013-01-27T09:14:16Z</dcterms:created>
  <dcterms:modified xsi:type="dcterms:W3CDTF">2026-05-19T01:10:05Z</dcterms:modified>
  <cp:category/>
</cp:coreProperties>
</file>