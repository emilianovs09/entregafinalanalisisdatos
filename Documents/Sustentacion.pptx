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0"/>
            <a:ext cx="12188952" cy="640080"/>
          </a:xfrm>
          <a:prstGeom prst="rect">
            <a:avLst/>
          </a:prstGeom>
          <a:solidFill>
            <a:srgbClr val="FDB8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08792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INSTITUTO TECNOLÓGICO METROPOLITANO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08792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Proyecto de Análisis de Datos</a:t>
            </a:r>
          </a:p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y Modelo Predictivo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23360"/>
            <a:ext cx="10908792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0" i="0">
                <a:solidFill>
                  <a:srgbClr val="FDB813"/>
                </a:solidFill>
                <a:latin typeface="Calibri"/>
              </a:rPr>
              <a:t>Caso: marketplace brasileño Olist (2017-2018)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937760"/>
            <a:ext cx="10908792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Calibri"/>
              </a:rPr>
              <a:t>Carlos David Moreno  ·  Mayo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440680"/>
            <a:ext cx="1090879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Docentes: Carlos Jaramillo · Gustavo Macias · Daniel Nieto · July Galeano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FDB8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097280"/>
            <a:ext cx="109728" cy="457200"/>
          </a:xfrm>
          <a:prstGeom prst="rect">
            <a:avLst/>
          </a:prstGeom>
          <a:solidFill>
            <a:srgbClr val="FDB8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078992"/>
            <a:ext cx="1005840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 i="0">
                <a:solidFill>
                  <a:srgbClr val="1F3A68"/>
                </a:solidFill>
                <a:latin typeface="Calibri"/>
              </a:rPr>
              <a:t>1. El problema de negocio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91640"/>
            <a:ext cx="109728" cy="457200"/>
          </a:xfrm>
          <a:prstGeom prst="rect">
            <a:avLst/>
          </a:prstGeom>
          <a:solidFill>
            <a:srgbClr val="FDB8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73352"/>
            <a:ext cx="1005840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 i="0">
                <a:solidFill>
                  <a:srgbClr val="1F3A68"/>
                </a:solidFill>
                <a:latin typeface="Calibri"/>
              </a:rPr>
              <a:t>2. Datos y metodología (5 fases)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286000"/>
            <a:ext cx="109728" cy="457200"/>
          </a:xfrm>
          <a:prstGeom prst="rect">
            <a:avLst/>
          </a:prstGeom>
          <a:solidFill>
            <a:srgbClr val="FDB8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267712"/>
            <a:ext cx="1005840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 i="0">
                <a:solidFill>
                  <a:srgbClr val="1F3A68"/>
                </a:solidFill>
                <a:latin typeface="Calibri"/>
              </a:rPr>
              <a:t>3. Fase 1 — ETL y modelo dimensional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880360"/>
            <a:ext cx="109728" cy="457200"/>
          </a:xfrm>
          <a:prstGeom prst="rect">
            <a:avLst/>
          </a:prstGeom>
          <a:solidFill>
            <a:srgbClr val="FDB8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862072"/>
            <a:ext cx="1005840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 i="0">
                <a:solidFill>
                  <a:srgbClr val="1F3A68"/>
                </a:solidFill>
                <a:latin typeface="Calibri"/>
              </a:rPr>
              <a:t>4. Fase 2 — EDA, KPIs y hipótesis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474720"/>
            <a:ext cx="109728" cy="457200"/>
          </a:xfrm>
          <a:prstGeom prst="rect">
            <a:avLst/>
          </a:prstGeom>
          <a:solidFill>
            <a:srgbClr val="FDB8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456432"/>
            <a:ext cx="1005840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 i="0">
                <a:solidFill>
                  <a:srgbClr val="1F3A68"/>
                </a:solidFill>
                <a:latin typeface="Calibri"/>
              </a:rPr>
              <a:t>5. Fase 3 — Dashboard de BI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069080"/>
            <a:ext cx="109728" cy="457200"/>
          </a:xfrm>
          <a:prstGeom prst="rect">
            <a:avLst/>
          </a:prstGeom>
          <a:solidFill>
            <a:srgbClr val="FDB8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050791"/>
            <a:ext cx="1005840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 i="0">
                <a:solidFill>
                  <a:srgbClr val="1F3A68"/>
                </a:solidFill>
                <a:latin typeface="Calibri"/>
              </a:rPr>
              <a:t>6. Fase 4 — Modelado predictivo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663440"/>
            <a:ext cx="109728" cy="457200"/>
          </a:xfrm>
          <a:prstGeom prst="rect">
            <a:avLst/>
          </a:prstGeom>
          <a:solidFill>
            <a:srgbClr val="FDB8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645152"/>
            <a:ext cx="1005840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 i="0">
                <a:solidFill>
                  <a:srgbClr val="1F3A68"/>
                </a:solidFill>
                <a:latin typeface="Calibri"/>
              </a:rPr>
              <a:t>7. Fase 5 — Conclusiones y 7 recomendaciones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257800"/>
            <a:ext cx="109728" cy="457200"/>
          </a:xfrm>
          <a:prstGeom prst="rect">
            <a:avLst/>
          </a:prstGeom>
          <a:solidFill>
            <a:srgbClr val="FDB8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239512"/>
            <a:ext cx="1005840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 i="0">
                <a:solidFill>
                  <a:srgbClr val="1F3A68"/>
                </a:solidFill>
                <a:latin typeface="Calibri"/>
              </a:rPr>
              <a:t>8. Limitaciones, ética y próximos pasos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25912" y="6446520"/>
            <a:ext cx="12801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07080"/>
                </a:solidFill>
                <a:latin typeface="Calibri"/>
              </a:rPr>
              <a:t>Olist · 2/17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1. El problema de negocio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FDB8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 i="0">
                <a:solidFill>
                  <a:srgbClr val="1F3A68"/>
                </a:solidFill>
                <a:latin typeface="Calibri"/>
              </a:rPr>
              <a:t>Predecir si una orden recibirá una reseña positiva (≥4★)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0" i="0">
                <a:solidFill>
                  <a:srgbClr val="607080"/>
                </a:solidFill>
                <a:latin typeface="Calibri"/>
              </a:rPr>
              <a:t>...a partir de variables observables al momento de cerrar la orden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560320"/>
            <a:ext cx="5303520" cy="32918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69748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 i="0">
                <a:solidFill>
                  <a:srgbClr val="1F3A68"/>
                </a:solidFill>
                <a:latin typeface="Calibri"/>
              </a:rPr>
              <a:t>¿Por qué importa?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00400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0">
                <a:solidFill>
                  <a:srgbClr val="1F3A68"/>
                </a:solidFill>
                <a:latin typeface="Calibri"/>
              </a:rPr>
              <a:t>• 22.4% de clientes hoy quedan insatisfechos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566160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0">
                <a:solidFill>
                  <a:srgbClr val="1F3A68"/>
                </a:solidFill>
                <a:latin typeface="Calibri"/>
              </a:rPr>
              <a:t>• Una reseña negativa publicada es ~10× más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931920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0">
                <a:solidFill>
                  <a:srgbClr val="1F3A68"/>
                </a:solidFill>
                <a:latin typeface="Calibri"/>
              </a:rPr>
              <a:t>  costosa que prevenirla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297680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0">
                <a:solidFill>
                  <a:srgbClr val="1F3A68"/>
                </a:solidFill>
                <a:latin typeface="Calibri"/>
              </a:rPr>
              <a:t>• Permite intervención proactiva del CRM: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663440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0">
                <a:solidFill>
                  <a:srgbClr val="1F3A68"/>
                </a:solidFill>
                <a:latin typeface="Calibri"/>
              </a:rPr>
              <a:t>  comunicación, ajuste logístico, cupón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029200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0">
                <a:solidFill>
                  <a:srgbClr val="1F3A68"/>
                </a:solidFill>
                <a:latin typeface="Calibri"/>
              </a:rPr>
              <a:t>• Alimenta la PN10 del dashboard: 'órdenes 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394960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0">
                <a:solidFill>
                  <a:srgbClr val="1F3A68"/>
                </a:solidFill>
                <a:latin typeface="Calibri"/>
              </a:rPr>
              <a:t>  riesgo' priorizadas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2560320"/>
            <a:ext cx="5303520" cy="32918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269748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 i="0">
                <a:solidFill>
                  <a:srgbClr val="1F3A68"/>
                </a:solidFill>
                <a:latin typeface="Calibri"/>
              </a:rPr>
              <a:t>¿Por qué clasificación binaria?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200400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0">
                <a:solidFill>
                  <a:srgbClr val="1F3A68"/>
                </a:solidFill>
                <a:latin typeface="Calibri"/>
              </a:rPr>
              <a:t>• Necesitamos una bandera ACCIONABLE (sí/no)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566160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0">
                <a:solidFill>
                  <a:srgbClr val="1F3A68"/>
                </a:solidFill>
                <a:latin typeface="Calibri"/>
              </a:rPr>
              <a:t>• review_score es ordinal — no estrictamente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931920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0">
                <a:solidFill>
                  <a:srgbClr val="1F3A68"/>
                </a:solidFill>
                <a:latin typeface="Calibri"/>
              </a:rPr>
              <a:t>  numérico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297680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0">
                <a:solidFill>
                  <a:srgbClr val="1F3A68"/>
                </a:solidFill>
                <a:latin typeface="Calibri"/>
              </a:rPr>
              <a:t>• Distribución bimodal: la mayoría son 5 o 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663440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0">
                <a:solidFill>
                  <a:srgbClr val="1F3A68"/>
                </a:solidFill>
                <a:latin typeface="Calibri"/>
              </a:rPr>
              <a:t>• Una regresión genera predicciones 'en 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029200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0">
                <a:solidFill>
                  <a:srgbClr val="1F3A68"/>
                </a:solidFill>
                <a:latin typeface="Calibri"/>
              </a:rPr>
              <a:t>  centro' que no son accionables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5394960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0">
                <a:solidFill>
                  <a:srgbClr val="1F3A68"/>
                </a:solidFill>
                <a:latin typeface="Calibri"/>
              </a:rPr>
              <a:t>• Target: is_positive_review (1 si score ≥ 4)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25912" y="6446520"/>
            <a:ext cx="12801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07080"/>
                </a:solidFill>
                <a:latin typeface="Calibri"/>
              </a:rPr>
              <a:t>Olist · 3/17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2. Datos y metodología — 5 fases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FDB8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 i="0">
                <a:solidFill>
                  <a:srgbClr val="1F3A68"/>
                </a:solidFill>
                <a:latin typeface="Calibri"/>
              </a:rPr>
              <a:t>Dataset: Brazilian E-Commerce by Olist · 98 666 órdenes · 2017-2018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194560"/>
            <a:ext cx="2103120" cy="50292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194560"/>
            <a:ext cx="2103120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Fase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97480"/>
            <a:ext cx="2103120" cy="2286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788920"/>
            <a:ext cx="2011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1F3A68"/>
                </a:solidFill>
                <a:latin typeface="Calibri"/>
              </a:rPr>
              <a:t>Recopilación</a:t>
            </a:r>
          </a:p>
          <a:p>
            <a:pPr algn="ctr"/>
            <a:r>
              <a:rPr sz="1500" b="1" i="0">
                <a:solidFill>
                  <a:srgbClr val="1F3A68"/>
                </a:solidFill>
                <a:latin typeface="Calibri"/>
              </a:rPr>
              <a:t>+ ETL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703320"/>
            <a:ext cx="201168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0" i="0">
                <a:solidFill>
                  <a:srgbClr val="607080"/>
                </a:solidFill>
                <a:latin typeface="Calibri"/>
              </a:rPr>
              <a:t>9 CSV → estrella</a:t>
            </a:r>
          </a:p>
          <a:p>
            <a:pPr algn="ctr"/>
            <a:r>
              <a:rPr sz="1200" b="0" i="0">
                <a:solidFill>
                  <a:srgbClr val="607080"/>
                </a:solidFill>
                <a:latin typeface="Calibri"/>
              </a:rPr>
              <a:t>12/12 validaciones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0" y="2194560"/>
            <a:ext cx="2103120" cy="502920"/>
          </a:xfrm>
          <a:prstGeom prst="rect">
            <a:avLst/>
          </a:prstGeom>
          <a:solidFill>
            <a:srgbClr val="FDB8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0" y="2194560"/>
            <a:ext cx="2103120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Fase 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0" y="2697480"/>
            <a:ext cx="2103120" cy="2286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88920" y="2788920"/>
            <a:ext cx="2011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1F3A68"/>
                </a:solidFill>
                <a:latin typeface="Calibri"/>
              </a:rPr>
              <a:t>EDA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3703320"/>
            <a:ext cx="201168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0" i="0">
                <a:solidFill>
                  <a:srgbClr val="607080"/>
                </a:solidFill>
                <a:latin typeface="Calibri"/>
              </a:rPr>
              <a:t>KPIs + 5 hipótesis</a:t>
            </a:r>
          </a:p>
          <a:p>
            <a:pPr algn="ctr"/>
            <a:r>
              <a:rPr sz="1200" b="0" i="0">
                <a:solidFill>
                  <a:srgbClr val="607080"/>
                </a:solidFill>
                <a:latin typeface="Calibri"/>
              </a:rPr>
              <a:t>stats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0" y="2194560"/>
            <a:ext cx="2103120" cy="50292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0" y="2194560"/>
            <a:ext cx="2103120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Fase 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0" y="2697480"/>
            <a:ext cx="2103120" cy="2286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74920" y="2788920"/>
            <a:ext cx="2011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1F3A68"/>
                </a:solidFill>
                <a:latin typeface="Calibri"/>
              </a:rPr>
              <a:t>Inteligencia</a:t>
            </a:r>
          </a:p>
          <a:p>
            <a:pPr algn="ctr"/>
            <a:r>
              <a:rPr sz="1500" b="1" i="0">
                <a:solidFill>
                  <a:srgbClr val="1F3A68"/>
                </a:solidFill>
                <a:latin typeface="Calibri"/>
              </a:rPr>
              <a:t>de Negocios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3703320"/>
            <a:ext cx="201168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0" i="0">
                <a:solidFill>
                  <a:srgbClr val="607080"/>
                </a:solidFill>
                <a:latin typeface="Calibri"/>
              </a:rPr>
              <a:t>Dashboard PBI</a:t>
            </a:r>
          </a:p>
          <a:p>
            <a:pPr algn="ctr"/>
            <a:r>
              <a:rPr sz="1200" b="0" i="0">
                <a:solidFill>
                  <a:srgbClr val="607080"/>
                </a:solidFill>
                <a:latin typeface="Calibri"/>
              </a:rPr>
              <a:t>+ HTML espejo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0" y="2194560"/>
            <a:ext cx="2103120" cy="502920"/>
          </a:xfrm>
          <a:prstGeom prst="rect">
            <a:avLst/>
          </a:prstGeom>
          <a:solidFill>
            <a:srgbClr val="FDB8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0" y="2194560"/>
            <a:ext cx="2103120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Fase 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0" y="2697480"/>
            <a:ext cx="2103120" cy="2286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60920" y="2788920"/>
            <a:ext cx="2011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1F3A68"/>
                </a:solidFill>
                <a:latin typeface="Calibri"/>
              </a:rPr>
              <a:t>Modelo</a:t>
            </a:r>
          </a:p>
          <a:p>
            <a:pPr algn="ctr"/>
            <a:r>
              <a:rPr sz="1500" b="1" i="0">
                <a:solidFill>
                  <a:srgbClr val="1F3A68"/>
                </a:solidFill>
                <a:latin typeface="Calibri"/>
              </a:rPr>
              <a:t>Predictivo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20" y="3703320"/>
            <a:ext cx="201168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0" i="0">
                <a:solidFill>
                  <a:srgbClr val="607080"/>
                </a:solidFill>
                <a:latin typeface="Calibri"/>
              </a:rPr>
              <a:t>XGBoost</a:t>
            </a:r>
          </a:p>
          <a:p>
            <a:pPr algn="ctr"/>
            <a:r>
              <a:rPr sz="1200" b="0" i="0">
                <a:solidFill>
                  <a:srgbClr val="607080"/>
                </a:solidFill>
                <a:latin typeface="Calibri"/>
              </a:rPr>
              <a:t>AUC = 0.70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601200" y="2194560"/>
            <a:ext cx="2103120" cy="50292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0" y="2194560"/>
            <a:ext cx="2103120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Fase 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601200" y="2697480"/>
            <a:ext cx="2103120" cy="2286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46920" y="2788920"/>
            <a:ext cx="2011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1F3A68"/>
                </a:solidFill>
                <a:latin typeface="Calibri"/>
              </a:rPr>
              <a:t>Conclusiones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46920" y="3703320"/>
            <a:ext cx="201168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0" i="0">
                <a:solidFill>
                  <a:srgbClr val="607080"/>
                </a:solidFill>
                <a:latin typeface="Calibri"/>
              </a:rPr>
              <a:t>7 recomendaciones</a:t>
            </a:r>
          </a:p>
          <a:p>
            <a:pPr algn="ctr"/>
            <a:r>
              <a:rPr sz="1200" b="0" i="0">
                <a:solidFill>
                  <a:srgbClr val="607080"/>
                </a:solidFill>
                <a:latin typeface="Calibri"/>
              </a:rPr>
              <a:t>impacto +4 p.p.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486400"/>
            <a:ext cx="108813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400" b="1" i="0">
                <a:solidFill>
                  <a:srgbClr val="607080"/>
                </a:solidFill>
                <a:latin typeface="Calibri"/>
              </a:rPr>
              <a:t>Stack: Python · pandas · scikit-learn · XGBoost · Power BI · DAX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25912" y="6446520"/>
            <a:ext cx="12801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07080"/>
                </a:solidFill>
                <a:latin typeface="Calibri"/>
              </a:rPr>
              <a:t>Olist · 4/17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3. Fase 1 — ETL y modelo dimensional estrella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FDB8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097280"/>
            <a:ext cx="5669280" cy="4572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18872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1F3A68"/>
                </a:solidFill>
                <a:latin typeface="Calibri"/>
              </a:rPr>
              <a:t>Esquema estrella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0" y="2926080"/>
            <a:ext cx="1463040" cy="73152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0" y="2926080"/>
            <a:ext cx="14630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OrderItems</a:t>
            </a:r>
          </a:p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(95k)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4389120"/>
            <a:ext cx="1463040" cy="64008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0" y="4389120"/>
            <a:ext cx="14630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Payments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1737360"/>
            <a:ext cx="1280160" cy="548640"/>
          </a:xfrm>
          <a:prstGeom prst="rect">
            <a:avLst/>
          </a:prstGeom>
          <a:solidFill>
            <a:srgbClr val="FDB8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1737360"/>
            <a:ext cx="128016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100" b="1" i="0">
                <a:solidFill>
                  <a:srgbClr val="1F3A68"/>
                </a:solidFill>
                <a:latin typeface="Calibri"/>
              </a:rPr>
              <a:t>Customers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0" y="1737360"/>
            <a:ext cx="1280160" cy="548640"/>
          </a:xfrm>
          <a:prstGeom prst="rect">
            <a:avLst/>
          </a:prstGeom>
          <a:solidFill>
            <a:srgbClr val="FDB8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0" y="1737360"/>
            <a:ext cx="128016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100" b="1" i="0">
                <a:solidFill>
                  <a:srgbClr val="1F3A68"/>
                </a:solidFill>
                <a:latin typeface="Calibri"/>
              </a:rPr>
              <a:t>Sellers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3108960"/>
            <a:ext cx="1280160" cy="548640"/>
          </a:xfrm>
          <a:prstGeom prst="rect">
            <a:avLst/>
          </a:prstGeom>
          <a:solidFill>
            <a:srgbClr val="FDB8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3108960"/>
            <a:ext cx="128016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100" b="1" i="0">
                <a:solidFill>
                  <a:srgbClr val="1F3A68"/>
                </a:solidFill>
                <a:latin typeface="Calibri"/>
              </a:rPr>
              <a:t>Products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54880" y="3108960"/>
            <a:ext cx="1280160" cy="548640"/>
          </a:xfrm>
          <a:prstGeom prst="rect">
            <a:avLst/>
          </a:prstGeom>
          <a:solidFill>
            <a:srgbClr val="FDB8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0" y="3108960"/>
            <a:ext cx="128016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100" b="1" i="0">
                <a:solidFill>
                  <a:srgbClr val="1F3A68"/>
                </a:solidFill>
                <a:latin typeface="Calibri"/>
              </a:rPr>
              <a:t>Date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97280" y="4480560"/>
            <a:ext cx="1280160" cy="548640"/>
          </a:xfrm>
          <a:prstGeom prst="rect">
            <a:avLst/>
          </a:prstGeom>
          <a:solidFill>
            <a:srgbClr val="FDB8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4480560"/>
            <a:ext cx="128016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100" b="1" i="0">
                <a:solidFill>
                  <a:srgbClr val="1F3A68"/>
                </a:solidFill>
                <a:latin typeface="Calibri"/>
              </a:rPr>
              <a:t>Reviews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54880" y="4480560"/>
            <a:ext cx="1280160" cy="548640"/>
          </a:xfrm>
          <a:prstGeom prst="rect">
            <a:avLst/>
          </a:prstGeom>
          <a:solidFill>
            <a:srgbClr val="FDB8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0" y="4480560"/>
            <a:ext cx="128016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100" b="1" i="0">
                <a:solidFill>
                  <a:srgbClr val="1F3A68"/>
                </a:solidFill>
                <a:latin typeface="Calibri"/>
              </a:rPr>
              <a:t>Geography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1097280"/>
            <a:ext cx="48463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 i="0">
                <a:solidFill>
                  <a:srgbClr val="1F3A68"/>
                </a:solidFill>
                <a:latin typeface="Calibri"/>
              </a:rPr>
              <a:t>Calidad del ETL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0" y="1737360"/>
            <a:ext cx="1828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 i="0">
                <a:solidFill>
                  <a:srgbClr val="FDB813"/>
                </a:solidFill>
                <a:latin typeface="Calibri"/>
              </a:rPr>
              <a:t>12/12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0" y="1828800"/>
            <a:ext cx="30175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1F3A68"/>
                </a:solidFill>
                <a:latin typeface="Calibri"/>
              </a:rPr>
              <a:t>Validaciones de integridad PASS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2514600"/>
            <a:ext cx="1828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 i="0">
                <a:solidFill>
                  <a:srgbClr val="FDB813"/>
                </a:solidFill>
                <a:latin typeface="Calibri"/>
              </a:rPr>
              <a:t>98 666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0" y="2606040"/>
            <a:ext cx="30175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1F3A68"/>
                </a:solidFill>
                <a:latin typeface="Calibri"/>
              </a:rPr>
              <a:t>órdenes con datos completos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6560" y="3291839"/>
            <a:ext cx="1828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 i="0">
                <a:solidFill>
                  <a:srgbClr val="FDB813"/>
                </a:solidFill>
                <a:latin typeface="Calibri"/>
              </a:rPr>
              <a:t>19 015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0" y="3383280"/>
            <a:ext cx="30175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1F3A68"/>
                </a:solidFill>
                <a:latin typeface="Calibri"/>
              </a:rPr>
              <a:t>zip codes únicos (de 1M crudos)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6560" y="4069079"/>
            <a:ext cx="1828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 i="0">
                <a:solidFill>
                  <a:srgbClr val="FDB813"/>
                </a:solidFill>
                <a:latin typeface="Calibri"/>
              </a:rPr>
              <a:t>0 huérfanos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95360" y="4160520"/>
            <a:ext cx="30175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1F3A68"/>
                </a:solidFill>
                <a:latin typeface="Calibri"/>
              </a:rPr>
              <a:t>Foreign keys 100% válidas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66560" y="4846320"/>
            <a:ext cx="1828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 i="0">
                <a:solidFill>
                  <a:srgbClr val="FDB813"/>
                </a:solidFill>
                <a:latin typeface="Calibri"/>
              </a:rPr>
              <a:t>Reproducible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95360" y="4937760"/>
            <a:ext cx="30175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1F3A68"/>
                </a:solidFill>
                <a:latin typeface="Calibri"/>
              </a:rPr>
              <a:t>Pipeline parametrizado por rutas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25912" y="6446520"/>
            <a:ext cx="12801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07080"/>
                </a:solidFill>
                <a:latin typeface="Calibri"/>
              </a:rPr>
              <a:t>Olist · 5/17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4. Fase 2 — KPIs operativos del marketplace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FDB8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2743200" cy="21945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109728" cy="2194560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234440"/>
            <a:ext cx="24688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 i="0">
                <a:solidFill>
                  <a:srgbClr val="607080"/>
                </a:solidFill>
                <a:latin typeface="Calibri"/>
              </a:rPr>
              <a:t>CSAT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45920"/>
            <a:ext cx="246888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600" b="1" i="0">
                <a:solidFill>
                  <a:srgbClr val="1F3A68"/>
                </a:solidFill>
                <a:latin typeface="Calibri"/>
              </a:rPr>
              <a:t>77.6%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697480"/>
            <a:ext cx="2468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607080"/>
                </a:solidFill>
                <a:latin typeface="Calibri"/>
              </a:rPr>
              <a:t>Meta 80%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7560" y="1097280"/>
            <a:ext cx="2743200" cy="21945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37560" y="1097280"/>
            <a:ext cx="109728" cy="2194560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1234440"/>
            <a:ext cx="24688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 i="0">
                <a:solidFill>
                  <a:srgbClr val="607080"/>
                </a:solidFill>
                <a:latin typeface="Calibri"/>
              </a:rPr>
              <a:t>OTIF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645920"/>
            <a:ext cx="246888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600" b="1" i="0">
                <a:solidFill>
                  <a:srgbClr val="1F3A68"/>
                </a:solidFill>
                <a:latin typeface="Calibri"/>
              </a:rPr>
              <a:t>91.9%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697480"/>
            <a:ext cx="2468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607080"/>
                </a:solidFill>
                <a:latin typeface="Calibri"/>
              </a:rPr>
              <a:t>Meta ≥95%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097280"/>
            <a:ext cx="2743200" cy="21945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097280"/>
            <a:ext cx="109728" cy="2194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234440"/>
            <a:ext cx="24688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 i="0">
                <a:solidFill>
                  <a:srgbClr val="607080"/>
                </a:solidFill>
                <a:latin typeface="Calibri"/>
              </a:rPr>
              <a:t>Ticket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1645920"/>
            <a:ext cx="246888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600" b="1" i="0">
                <a:solidFill>
                  <a:srgbClr val="1F3A68"/>
                </a:solidFill>
                <a:latin typeface="Calibri"/>
              </a:rPr>
              <a:t>R$ 161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697480"/>
            <a:ext cx="2468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607080"/>
                </a:solidFill>
                <a:latin typeface="Calibri"/>
              </a:rPr>
              <a:t>p99 R$1k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98280" y="1097280"/>
            <a:ext cx="2743200" cy="21945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98280" y="1097280"/>
            <a:ext cx="109728" cy="2194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0" y="1234440"/>
            <a:ext cx="24688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 i="0">
                <a:solidFill>
                  <a:srgbClr val="607080"/>
                </a:solidFill>
                <a:latin typeface="Calibri"/>
              </a:rPr>
              <a:t>Días entrega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1645920"/>
            <a:ext cx="246888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600" b="1" i="0">
                <a:solidFill>
                  <a:srgbClr val="1F3A68"/>
                </a:solidFill>
                <a:latin typeface="Calibri"/>
              </a:rPr>
              <a:t>12.6 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0" y="2697480"/>
            <a:ext cx="2468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607080"/>
                </a:solidFill>
                <a:latin typeface="Calibri"/>
              </a:rPr>
              <a:t>Mediana 10 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566160"/>
            <a:ext cx="2743200" cy="21945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3566160"/>
            <a:ext cx="109728" cy="2194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3703320"/>
            <a:ext cx="24688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 i="0">
                <a:solidFill>
                  <a:srgbClr val="607080"/>
                </a:solidFill>
                <a:latin typeface="Calibri"/>
              </a:rPr>
              <a:t>Cancelación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4114800"/>
            <a:ext cx="246888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600" b="1" i="0">
                <a:solidFill>
                  <a:srgbClr val="1F3A68"/>
                </a:solidFill>
                <a:latin typeface="Calibri"/>
              </a:rPr>
              <a:t>0.47%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5166360"/>
            <a:ext cx="2468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607080"/>
                </a:solidFill>
                <a:latin typeface="Calibri"/>
              </a:rPr>
              <a:t>Sano &lt;1%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337560" y="3566160"/>
            <a:ext cx="2743200" cy="21945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337560" y="3566160"/>
            <a:ext cx="109728" cy="219456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566160" y="3703320"/>
            <a:ext cx="24688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 i="0">
                <a:solidFill>
                  <a:srgbClr val="607080"/>
                </a:solidFill>
                <a:latin typeface="Calibri"/>
              </a:rPr>
              <a:t>Top-3 conc.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114800"/>
            <a:ext cx="246888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600" b="1" i="0">
                <a:solidFill>
                  <a:srgbClr val="1F3A68"/>
                </a:solidFill>
                <a:latin typeface="Calibri"/>
              </a:rPr>
              <a:t>66.6%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0" y="5166360"/>
            <a:ext cx="2468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607080"/>
                </a:solidFill>
                <a:latin typeface="Calibri"/>
              </a:rPr>
              <a:t>Riesgo alto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17920" y="3566160"/>
            <a:ext cx="2743200" cy="21945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17920" y="3566160"/>
            <a:ext cx="109728" cy="2194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46520" y="3703320"/>
            <a:ext cx="24688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 i="0">
                <a:solidFill>
                  <a:srgbClr val="607080"/>
                </a:solidFill>
                <a:latin typeface="Calibri"/>
              </a:rPr>
              <a:t>Score promedio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46520" y="4114800"/>
            <a:ext cx="246888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600" b="1" i="0">
                <a:solidFill>
                  <a:srgbClr val="1F3A68"/>
                </a:solidFill>
                <a:latin typeface="Calibri"/>
              </a:rPr>
              <a:t>4.10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46520" y="5166360"/>
            <a:ext cx="2468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607080"/>
                </a:solidFill>
                <a:latin typeface="Calibri"/>
              </a:rPr>
              <a:t>Escala 1-5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098280" y="3566160"/>
            <a:ext cx="2743200" cy="21945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098280" y="3566160"/>
            <a:ext cx="109728" cy="2194560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326880" y="3703320"/>
            <a:ext cx="24688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 i="0">
                <a:solidFill>
                  <a:srgbClr val="607080"/>
                </a:solidFill>
                <a:latin typeface="Calibri"/>
              </a:rPr>
              <a:t>Reviews neg.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26880" y="4114800"/>
            <a:ext cx="246888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600" b="1" i="0">
                <a:solidFill>
                  <a:srgbClr val="1F3A68"/>
                </a:solidFill>
                <a:latin typeface="Calibri"/>
              </a:rPr>
              <a:t>22.4%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0" y="5166360"/>
            <a:ext cx="2468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607080"/>
                </a:solidFill>
                <a:latin typeface="Calibri"/>
              </a:rPr>
              <a:t>Oportunidad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25912" y="6446520"/>
            <a:ext cx="12801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07080"/>
                </a:solidFill>
                <a:latin typeface="Calibri"/>
              </a:rPr>
              <a:t>Olist · 6/17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4.1 Fase 2 — Las 5 hipótesis: TODAS rechazadas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FDB8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8813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 i="0">
                <a:solidFill>
                  <a:srgbClr val="1F3A68"/>
                </a:solidFill>
                <a:latin typeface="Calibri"/>
              </a:rPr>
              <a:t>α = 0.05 · todas las H0 rechazadas con margen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45920"/>
            <a:ext cx="548640" cy="4572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54864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8" name="Rectangle 7"/>
          <p:cNvSpPr/>
          <p:nvPr/>
        </p:nvSpPr>
        <p:spPr>
          <a:xfrm>
            <a:off x="1188720" y="1645920"/>
            <a:ext cx="6217920" cy="4572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1645920"/>
            <a:ext cx="62179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Hipótesis nula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1645920"/>
            <a:ext cx="1645920" cy="4572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06640" y="1645920"/>
            <a:ext cx="16459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Test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052560" y="1645920"/>
            <a:ext cx="1280160" cy="4572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52560" y="1645920"/>
            <a:ext cx="128016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p-valor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32720" y="1645920"/>
            <a:ext cx="1188720" cy="4572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20" y="1645920"/>
            <a:ext cx="1188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Estado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2103120"/>
            <a:ext cx="10881360" cy="5486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103120"/>
            <a:ext cx="54864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200" b="0" i="0">
                <a:solidFill>
                  <a:srgbClr val="1F3A68"/>
                </a:solidFill>
                <a:latin typeface="Calibri"/>
              </a:rPr>
              <a:t>H1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2103120"/>
            <a:ext cx="621792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200" b="0" i="0">
                <a:solidFill>
                  <a:srgbClr val="1F3A68"/>
                </a:solidFill>
                <a:latin typeface="Calibri"/>
              </a:rPr>
              <a:t>Tiempo de entrega = entre reseñas + y 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2103120"/>
            <a:ext cx="164592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200" b="0" i="0">
                <a:solidFill>
                  <a:srgbClr val="1F3A68"/>
                </a:solidFill>
                <a:latin typeface="Calibri"/>
              </a:rPr>
              <a:t>Mann-Whitney 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2103120"/>
            <a:ext cx="128016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200" b="0" i="0">
                <a:solidFill>
                  <a:srgbClr val="1F3A68"/>
                </a:solidFill>
                <a:latin typeface="Calibri"/>
              </a:rPr>
              <a:t>p &lt; 0.001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2103120"/>
            <a:ext cx="118872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200" b="1" i="0">
                <a:solidFill>
                  <a:srgbClr val="C62828"/>
                </a:solidFill>
                <a:latin typeface="Calibri"/>
              </a:rPr>
              <a:t>RECHAZADA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2651760"/>
            <a:ext cx="1088136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2651760"/>
            <a:ext cx="54864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200" b="0" i="0">
                <a:solidFill>
                  <a:srgbClr val="1F3A68"/>
                </a:solidFill>
                <a:latin typeface="Calibri"/>
              </a:rPr>
              <a:t>H2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2651760"/>
            <a:ext cx="621792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200" b="0" i="0">
                <a:solidFill>
                  <a:srgbClr val="1F3A68"/>
                </a:solidFill>
                <a:latin typeface="Calibri"/>
              </a:rPr>
              <a:t>is_late independiente de reseña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06640" y="2651760"/>
            <a:ext cx="164592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200" b="0" i="0">
                <a:solidFill>
                  <a:srgbClr val="1F3A68"/>
                </a:solidFill>
                <a:latin typeface="Calibri"/>
              </a:rPr>
              <a:t>Chi-cuadrado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52560" y="2651760"/>
            <a:ext cx="128016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200" b="0" i="0">
                <a:solidFill>
                  <a:srgbClr val="1F3A68"/>
                </a:solidFill>
                <a:latin typeface="Calibri"/>
              </a:rPr>
              <a:t>p &lt; 0.001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2720" y="2651760"/>
            <a:ext cx="118872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200" b="1" i="0">
                <a:solidFill>
                  <a:srgbClr val="C62828"/>
                </a:solidFill>
                <a:latin typeface="Calibri"/>
              </a:rPr>
              <a:t>RECHAZADA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3200400"/>
            <a:ext cx="10881360" cy="5486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200400"/>
            <a:ext cx="54864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200" b="0" i="0">
                <a:solidFill>
                  <a:srgbClr val="1F3A68"/>
                </a:solidFill>
                <a:latin typeface="Calibri"/>
              </a:rPr>
              <a:t>H3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3200400"/>
            <a:ext cx="621792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200" b="0" i="0">
                <a:solidFill>
                  <a:srgbClr val="1F3A68"/>
                </a:solidFill>
                <a:latin typeface="Calibri"/>
              </a:rPr>
              <a:t>Método de pago independiente de reseña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06640" y="3200400"/>
            <a:ext cx="164592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200" b="0" i="0">
                <a:solidFill>
                  <a:srgbClr val="1F3A68"/>
                </a:solidFill>
                <a:latin typeface="Calibri"/>
              </a:rPr>
              <a:t>Chi-cuadrado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52560" y="3200400"/>
            <a:ext cx="128016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200" b="0" i="0">
                <a:solidFill>
                  <a:srgbClr val="1F3A68"/>
                </a:solidFill>
                <a:latin typeface="Calibri"/>
              </a:rPr>
              <a:t>p &lt; 0.05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32720" y="3200400"/>
            <a:ext cx="118872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200" b="1" i="0">
                <a:solidFill>
                  <a:srgbClr val="C62828"/>
                </a:solidFill>
                <a:latin typeface="Calibri"/>
              </a:rPr>
              <a:t>RECHAZADA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3749040"/>
            <a:ext cx="1088136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3749040"/>
            <a:ext cx="54864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200" b="0" i="0">
                <a:solidFill>
                  <a:srgbClr val="1F3A68"/>
                </a:solidFill>
                <a:latin typeface="Calibri"/>
              </a:rPr>
              <a:t>H4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88720" y="3749040"/>
            <a:ext cx="621792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200" b="0" i="0">
                <a:solidFill>
                  <a:srgbClr val="1F3A68"/>
                </a:solidFill>
                <a:latin typeface="Calibri"/>
              </a:rPr>
              <a:t>Cuotas y review_score NO correlacionados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06640" y="3749040"/>
            <a:ext cx="164592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200" b="0" i="0">
                <a:solidFill>
                  <a:srgbClr val="1F3A68"/>
                </a:solidFill>
                <a:latin typeface="Calibri"/>
              </a:rPr>
              <a:t>Spearman 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52560" y="3749040"/>
            <a:ext cx="128016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200" b="0" i="0">
                <a:solidFill>
                  <a:srgbClr val="1F3A68"/>
                </a:solidFill>
                <a:latin typeface="Calibri"/>
              </a:rPr>
              <a:t>p &lt; 0.05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32720" y="3749040"/>
            <a:ext cx="118872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200" b="1" i="0">
                <a:solidFill>
                  <a:srgbClr val="C62828"/>
                </a:solidFill>
                <a:latin typeface="Calibri"/>
              </a:rPr>
              <a:t>RECHAZADA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" y="4297680"/>
            <a:ext cx="10881360" cy="5486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4297680"/>
            <a:ext cx="54864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200" b="0" i="0">
                <a:solidFill>
                  <a:srgbClr val="1F3A68"/>
                </a:solidFill>
                <a:latin typeface="Calibri"/>
              </a:rPr>
              <a:t>H5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88720" y="4297680"/>
            <a:ext cx="621792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200" b="0" i="0">
                <a:solidFill>
                  <a:srgbClr val="1F3A68"/>
                </a:solidFill>
                <a:latin typeface="Calibri"/>
              </a:rPr>
              <a:t>Tiempo entrega = sudeste vs resto país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06640" y="4297680"/>
            <a:ext cx="164592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200" b="0" i="0">
                <a:solidFill>
                  <a:srgbClr val="1F3A68"/>
                </a:solidFill>
                <a:latin typeface="Calibri"/>
              </a:rPr>
              <a:t>Mann-Whitney U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52560" y="4297680"/>
            <a:ext cx="128016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200" b="0" i="0">
                <a:solidFill>
                  <a:srgbClr val="1F3A68"/>
                </a:solidFill>
                <a:latin typeface="Calibri"/>
              </a:rPr>
              <a:t>p &lt; 0.001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332720" y="4297680"/>
            <a:ext cx="118872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200" b="1" i="0">
                <a:solidFill>
                  <a:srgbClr val="C62828"/>
                </a:solidFill>
                <a:latin typeface="Calibri"/>
              </a:rPr>
              <a:t>RECHAZADA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0080" y="5120640"/>
            <a:ext cx="10881360" cy="9144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68680" y="521208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 i="0">
                <a:solidFill>
                  <a:srgbClr val="1F3A68"/>
                </a:solidFill>
                <a:latin typeface="Calibri"/>
              </a:rPr>
              <a:t>Conclusión: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557784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1F3A68"/>
                </a:solidFill>
                <a:latin typeface="Calibri"/>
              </a:rPr>
              <a:t>La logística y la geografía SÍ son drivers reales de la satisfacción · evidencia robusta para Fase 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725912" y="6446520"/>
            <a:ext cx="12801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07080"/>
                </a:solidFill>
                <a:latin typeface="Calibri"/>
              </a:rPr>
              <a:t>Olist · 7/17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4.2 Fase 2 — Visualizaciones clave del EDA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FDB8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2_csat_mens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5852160" cy="2651760"/>
          </a:xfrm>
          <a:prstGeom prst="rect">
            <a:avLst/>
          </a:prstGeom>
        </p:spPr>
      </p:pic>
      <p:pic>
        <p:nvPicPr>
          <p:cNvPr id="6" name="Picture 5" descr="05_pareto_estad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914400"/>
            <a:ext cx="5486400" cy="2651760"/>
          </a:xfrm>
          <a:prstGeom prst="rect">
            <a:avLst/>
          </a:prstGeom>
        </p:spPr>
      </p:pic>
      <p:pic>
        <p:nvPicPr>
          <p:cNvPr id="7" name="Picture 6" descr="06_boxplot_delivery_revie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03320"/>
            <a:ext cx="5852160" cy="2651760"/>
          </a:xfrm>
          <a:prstGeom prst="rect">
            <a:avLst/>
          </a:prstGeom>
        </p:spPr>
      </p:pic>
      <p:pic>
        <p:nvPicPr>
          <p:cNvPr id="8" name="Picture 7" descr="08_heatmap_cat_estad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3703320"/>
            <a:ext cx="5486400" cy="2651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25912" y="6446520"/>
            <a:ext cx="12801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07080"/>
                </a:solidFill>
                <a:latin typeface="Calibri"/>
              </a:rPr>
              <a:t>Olist · 8/17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5. Fase 3 — Dashboard BI · 3 páginas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FDB8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3657600" cy="54864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36576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Página 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3657600" cy="38404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 i="0">
                <a:solidFill>
                  <a:srgbClr val="1F3A68"/>
                </a:solidFill>
                <a:latin typeface="Calibri"/>
              </a:rPr>
              <a:t>Resumen ejecutivo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94560"/>
            <a:ext cx="32918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607080"/>
                </a:solidFill>
                <a:latin typeface="Calibri"/>
              </a:rPr>
              <a:t>Audiencia: Gerencia general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51760"/>
            <a:ext cx="3291840" cy="2377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0">
                <a:solidFill>
                  <a:srgbClr val="1F3A68"/>
                </a:solidFill>
                <a:latin typeface="Calibri"/>
              </a:rPr>
              <a:t>KPI cards + serie temporal CSAT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1005840"/>
            <a:ext cx="3657600" cy="548640"/>
          </a:xfrm>
          <a:prstGeom prst="rect">
            <a:avLst/>
          </a:prstGeom>
          <a:solidFill>
            <a:srgbClr val="FDB8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43400" y="1005840"/>
            <a:ext cx="36576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Página 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1554480"/>
            <a:ext cx="3657600" cy="38404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1691640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 i="0">
                <a:solidFill>
                  <a:srgbClr val="1F3A68"/>
                </a:solidFill>
                <a:latin typeface="Calibri"/>
              </a:rPr>
              <a:t>Operación y logística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2194560"/>
            <a:ext cx="32918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607080"/>
                </a:solidFill>
                <a:latin typeface="Calibri"/>
              </a:rPr>
              <a:t>Audiencia: Gerencia operaciones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2651760"/>
            <a:ext cx="3291840" cy="2377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0">
                <a:solidFill>
                  <a:srgbClr val="1F3A68"/>
                </a:solidFill>
                <a:latin typeface="Calibri"/>
              </a:rPr>
              <a:t>Mapa Brasil + OTIF + Pareto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1005840"/>
            <a:ext cx="3657600" cy="54864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005840"/>
            <a:ext cx="36576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Página 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0" y="1554480"/>
            <a:ext cx="3657600" cy="38404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1691640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 i="0">
                <a:solidFill>
                  <a:srgbClr val="1F3A68"/>
                </a:solidFill>
                <a:latin typeface="Calibri"/>
              </a:rPr>
              <a:t>Satisfacción cliente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2194560"/>
            <a:ext cx="32918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607080"/>
                </a:solidFill>
                <a:latin typeface="Calibri"/>
              </a:rPr>
              <a:t>Audiencia: Gerencia comercial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2651760"/>
            <a:ext cx="3291840" cy="2377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0">
                <a:solidFill>
                  <a:srgbClr val="1F3A68"/>
                </a:solidFill>
                <a:latin typeface="Calibri"/>
              </a:rPr>
              <a:t>Treemap + heatmap + órdenes riesgo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486400"/>
            <a:ext cx="11338560" cy="7315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57784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 i="0">
                <a:solidFill>
                  <a:srgbClr val="1F3A68"/>
                </a:solidFill>
                <a:latin typeface="Calibri"/>
              </a:rPr>
              <a:t>Capa semántica: 30+ medidas DAX + Power Query (M) + dashboard HTML espejo (Plan B)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607080"/>
                </a:solidFill>
                <a:latin typeface="Calibri"/>
              </a:rPr>
              <a:t>Validación cruzada Python ↔ DAX: delta &lt; 0.05 p.p. en todas las medidas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25912" y="6446520"/>
            <a:ext cx="12801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07080"/>
                </a:solidFill>
                <a:latin typeface="Calibri"/>
              </a:rPr>
              <a:t>Olist · 9/17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5.1 Fase 3 — Insight: la logística es el problema regional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FDB8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4_entrega_es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914400"/>
            <a:ext cx="7589520" cy="5303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95360" y="1097280"/>
            <a:ext cx="30175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 i="0">
                <a:solidFill>
                  <a:srgbClr val="1F3A68"/>
                </a:solidFill>
                <a:latin typeface="Calibri"/>
              </a:rPr>
              <a:t>Lectura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1645920"/>
            <a:ext cx="3017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1F3A68"/>
                </a:solidFill>
                <a:latin typeface="Calibri"/>
              </a:rPr>
              <a:t>SP (sede): 8.7 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0" y="2011680"/>
            <a:ext cx="3017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1F3A68"/>
                </a:solidFill>
                <a:latin typeface="Calibri"/>
              </a:rPr>
              <a:t>PR/MG/RS: 11-13 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2377440"/>
            <a:ext cx="3017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1F3A68"/>
                </a:solidFill>
                <a:latin typeface="Calibri"/>
              </a:rPr>
              <a:t>Estados del Nordeste: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2743200"/>
            <a:ext cx="3017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1F3A68"/>
                </a:solidFill>
                <a:latin typeface="Calibri"/>
              </a:rPr>
              <a:t>    21-29 días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3108960"/>
            <a:ext cx="3017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1F3A68"/>
                </a:solidFill>
                <a:latin typeface="Calibri"/>
              </a:rPr>
              <a:t>    +CSAT cae 8-10 p.p.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3474720"/>
            <a:ext cx="3017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FDB813"/>
                </a:solidFill>
                <a:latin typeface="Calibri"/>
              </a:rPr>
              <a:t>Hipótesis H5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3840480"/>
            <a:ext cx="3017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1F3A68"/>
                </a:solidFill>
                <a:latin typeface="Calibri"/>
              </a:rPr>
              <a:t>rechazada con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4206240"/>
            <a:ext cx="3017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1F3A68"/>
                </a:solidFill>
                <a:latin typeface="Calibri"/>
              </a:rPr>
              <a:t>p &lt; 0.001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4572000"/>
            <a:ext cx="3017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1F3A68"/>
                </a:solidFill>
                <a:latin typeface="Calibri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4937760"/>
            <a:ext cx="3017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 i="0">
                <a:solidFill>
                  <a:srgbClr val="FDB813"/>
                </a:solidFill>
                <a:latin typeface="Calibri"/>
              </a:rPr>
              <a:t>→ R1: hub logístico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5303520"/>
            <a:ext cx="3017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1F3A68"/>
                </a:solidFill>
                <a:latin typeface="Calibri"/>
              </a:rPr>
              <a:t>    en Recife/Salvador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5912" y="6446520"/>
            <a:ext cx="12801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07080"/>
                </a:solidFill>
                <a:latin typeface="Calibri"/>
              </a:rPr>
              <a:t>Olist · 10/17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6. Fase 4 — Comparación de modelos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FDB8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1_cv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7589520" cy="3657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474720" cy="36576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0" y="100584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1F3A68"/>
                </a:solidFill>
                <a:latin typeface="Calibri"/>
              </a:rPr>
              <a:t>Validación cruzada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1554480"/>
            <a:ext cx="1371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 i="0">
                <a:solidFill>
                  <a:srgbClr val="1F3A68"/>
                </a:solidFill>
                <a:latin typeface="Calibri"/>
              </a:rPr>
              <a:t>Baseline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155448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 i="0">
                <a:solidFill>
                  <a:srgbClr val="FDB813"/>
                </a:solidFill>
                <a:latin typeface="Calibri"/>
              </a:rPr>
              <a:t>AUC = 0.50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1554480"/>
            <a:ext cx="914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 i="0">
                <a:solidFill>
                  <a:srgbClr val="607080"/>
                </a:solidFill>
                <a:latin typeface="Calibri"/>
              </a:rPr>
              <a:t>trivial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2148840"/>
            <a:ext cx="1371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 i="0">
                <a:solidFill>
                  <a:srgbClr val="1F3A68"/>
                </a:solidFill>
                <a:latin typeface="Calibri"/>
              </a:rPr>
              <a:t>RegLog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0" y="214884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 i="0">
                <a:solidFill>
                  <a:srgbClr val="FDB813"/>
                </a:solidFill>
                <a:latin typeface="Calibri"/>
              </a:rPr>
              <a:t>AUC = 0.70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0" y="2148840"/>
            <a:ext cx="914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 i="0">
                <a:solidFill>
                  <a:srgbClr val="607080"/>
                </a:solidFill>
                <a:latin typeface="Calibri"/>
              </a:rPr>
              <a:t>buena base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743200"/>
            <a:ext cx="1371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 i="0">
                <a:solidFill>
                  <a:srgbClr val="1F3A68"/>
                </a:solidFill>
                <a:latin typeface="Calibri"/>
              </a:rPr>
              <a:t>RandomForest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92640" y="274320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 i="0">
                <a:solidFill>
                  <a:srgbClr val="FDB813"/>
                </a:solidFill>
                <a:latin typeface="Calibri"/>
              </a:rPr>
              <a:t>AUC = 0.71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0" y="2743200"/>
            <a:ext cx="914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 i="0">
                <a:solidFill>
                  <a:srgbClr val="607080"/>
                </a:solidFill>
                <a:latin typeface="Calibri"/>
              </a:rPr>
              <a:t>no lineal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3337560"/>
            <a:ext cx="1371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 i="0">
                <a:solidFill>
                  <a:srgbClr val="1F3A68"/>
                </a:solidFill>
                <a:latin typeface="Calibri"/>
              </a:rPr>
              <a:t>XGBoost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0" y="333756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 i="0">
                <a:solidFill>
                  <a:srgbClr val="FDB813"/>
                </a:solidFill>
                <a:latin typeface="Calibri"/>
              </a:rPr>
              <a:t>AUC = 0.70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0" y="3337560"/>
            <a:ext cx="914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 i="0">
                <a:solidFill>
                  <a:srgbClr val="607080"/>
                </a:solidFill>
                <a:latin typeface="Calibri"/>
              </a:rPr>
              <a:t>elegido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846320"/>
            <a:ext cx="11338560" cy="14630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93776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1F3A68"/>
                </a:solidFill>
                <a:latin typeface="Calibri"/>
              </a:rPr>
              <a:t>¿Por qué XGBoost?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349240"/>
            <a:ext cx="10972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1F3A68"/>
                </a:solidFill>
                <a:latin typeface="Calibri"/>
              </a:rPr>
              <a:t>• Velocidad de entrenamiento y soporte nativo a desbalance (scale_pos_weight)</a:t>
            </a:r>
          </a:p>
          <a:p>
            <a:pPr algn="l"/>
            <a:r>
              <a:rPr sz="1300" b="0" i="0">
                <a:solidFill>
                  <a:srgbClr val="1F3A68"/>
                </a:solidFill>
                <a:latin typeface="Calibri"/>
              </a:rPr>
              <a:t>• Empate técnico en AUC con Random Forest, pero 4× más rápido</a:t>
            </a:r>
          </a:p>
          <a:p>
            <a:pPr algn="l"/>
            <a:r>
              <a:rPr sz="1300" b="0" i="0">
                <a:solidFill>
                  <a:srgbClr val="1F3A68"/>
                </a:solidFill>
                <a:latin typeface="Calibri"/>
              </a:rPr>
              <a:t>• Más maduro en producción y mejor soporte para SHAP/permutation importance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25912" y="6446520"/>
            <a:ext cx="12801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07080"/>
                </a:solidFill>
                <a:latin typeface="Calibri"/>
              </a:rPr>
              <a:t>Olist · 11/17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6.1 Fase 4 — Evaluación final XGBoost (test set)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FDB8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3_roc_p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7863840" cy="3200400"/>
          </a:xfrm>
          <a:prstGeom prst="rect">
            <a:avLst/>
          </a:prstGeom>
        </p:spPr>
      </p:pic>
      <p:pic>
        <p:nvPicPr>
          <p:cNvPr id="6" name="Picture 5" descr="02_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114800"/>
            <a:ext cx="3657600" cy="2468880"/>
          </a:xfrm>
          <a:prstGeom prst="rect">
            <a:avLst/>
          </a:prstGeom>
        </p:spPr>
      </p:pic>
      <p:pic>
        <p:nvPicPr>
          <p:cNvPr id="7" name="Picture 6" descr="04_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80" y="4114800"/>
            <a:ext cx="3657600" cy="24688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503920" y="1005840"/>
            <a:ext cx="3291840" cy="11887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503920" y="1005840"/>
            <a:ext cx="91440" cy="1188720"/>
          </a:xfrm>
          <a:prstGeom prst="rect">
            <a:avLst/>
          </a:prstGeom>
          <a:solidFill>
            <a:srgbClr val="FDB8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0" y="1097280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 i="0">
                <a:solidFill>
                  <a:srgbClr val="607080"/>
                </a:solidFill>
                <a:latin typeface="Calibri"/>
              </a:rPr>
              <a:t>Accuracy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417320"/>
            <a:ext cx="3108960" cy="777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 i="0">
                <a:solidFill>
                  <a:srgbClr val="1F3A68"/>
                </a:solidFill>
                <a:latin typeface="Calibri"/>
              </a:rPr>
              <a:t>0.748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0" y="2377440"/>
            <a:ext cx="3291840" cy="11887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03920" y="2377440"/>
            <a:ext cx="91440" cy="1188720"/>
          </a:xfrm>
          <a:prstGeom prst="rect">
            <a:avLst/>
          </a:prstGeom>
          <a:solidFill>
            <a:srgbClr val="FDB8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0" y="2468880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 i="0">
                <a:solidFill>
                  <a:srgbClr val="607080"/>
                </a:solidFill>
                <a:latin typeface="Calibri"/>
              </a:rPr>
              <a:t>F1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2788920"/>
            <a:ext cx="3108960" cy="777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 i="0">
                <a:solidFill>
                  <a:srgbClr val="1F3A68"/>
                </a:solidFill>
                <a:latin typeface="Calibri"/>
              </a:rPr>
              <a:t>0.837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3749039"/>
            <a:ext cx="3291840" cy="11887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3749039"/>
            <a:ext cx="91440" cy="1188720"/>
          </a:xfrm>
          <a:prstGeom prst="rect">
            <a:avLst/>
          </a:prstGeom>
          <a:solidFill>
            <a:srgbClr val="FDB8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0" y="3840479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 i="0">
                <a:solidFill>
                  <a:srgbClr val="607080"/>
                </a:solidFill>
                <a:latin typeface="Calibri"/>
              </a:rPr>
              <a:t>ROC-AUC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4160519"/>
            <a:ext cx="3108960" cy="777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 i="0">
                <a:solidFill>
                  <a:srgbClr val="1F3A68"/>
                </a:solidFill>
                <a:latin typeface="Calibri"/>
              </a:rPr>
              <a:t>0.705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503920" y="5120640"/>
            <a:ext cx="3291840" cy="11887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503920" y="5120640"/>
            <a:ext cx="91440" cy="1188720"/>
          </a:xfrm>
          <a:prstGeom prst="rect">
            <a:avLst/>
          </a:prstGeom>
          <a:solidFill>
            <a:srgbClr val="FDB8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0" y="5212080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 i="0">
                <a:solidFill>
                  <a:srgbClr val="607080"/>
                </a:solidFill>
                <a:latin typeface="Calibri"/>
              </a:rPr>
              <a:t>PR-AUC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5532120"/>
            <a:ext cx="3108960" cy="777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 i="0">
                <a:solidFill>
                  <a:srgbClr val="1F3A68"/>
                </a:solidFill>
                <a:latin typeface="Calibri"/>
              </a:rPr>
              <a:t>0.874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25912" y="6446520"/>
            <a:ext cx="12801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07080"/>
                </a:solidFill>
                <a:latin typeface="Calibri"/>
              </a:rPr>
              <a:t>Olist · 12/17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6.2 Fase 4 — Interpretabilidad: ¿qué pesa más?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FDB8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6_permutation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6400800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223760" y="914400"/>
            <a:ext cx="45720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 i="0">
                <a:solidFill>
                  <a:srgbClr val="1F3A68"/>
                </a:solidFill>
                <a:latin typeface="Calibri"/>
              </a:rPr>
              <a:t>Top features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0" y="1554480"/>
            <a:ext cx="2743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 i="0">
                <a:solidFill>
                  <a:srgbClr val="FDB813"/>
                </a:solidFill>
                <a:latin typeface="Calibri"/>
              </a:rPr>
              <a:t>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554480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 i="0">
                <a:solidFill>
                  <a:srgbClr val="1F3A68"/>
                </a:solidFill>
                <a:latin typeface="Consolas"/>
              </a:rPr>
              <a:t>delivery_days_real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1554480"/>
            <a:ext cx="10058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 i="0">
                <a:solidFill>
                  <a:srgbClr val="607080"/>
                </a:solidFill>
                <a:latin typeface="Calibri"/>
              </a:rPr>
              <a:t>−0.044 AUC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1554480"/>
            <a:ext cx="11887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 i="0">
                <a:solidFill>
                  <a:srgbClr val="FDB813"/>
                </a:solidFill>
                <a:latin typeface="Calibri"/>
              </a:rPr>
              <a:t>Logística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148840"/>
            <a:ext cx="2743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 i="0">
                <a:solidFill>
                  <a:srgbClr val="FDB813"/>
                </a:solidFill>
                <a:latin typeface="Calibri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148840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 i="0">
                <a:solidFill>
                  <a:srgbClr val="1F3A68"/>
                </a:solidFill>
                <a:latin typeface="Consolas"/>
              </a:rPr>
              <a:t>n_items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0" y="2148840"/>
            <a:ext cx="10058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 i="0">
                <a:solidFill>
                  <a:srgbClr val="607080"/>
                </a:solidFill>
                <a:latin typeface="Calibri"/>
              </a:rPr>
              <a:t>−0.038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0" y="2148840"/>
            <a:ext cx="11887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 i="0">
                <a:solidFill>
                  <a:srgbClr val="FDB813"/>
                </a:solidFill>
                <a:latin typeface="Calibri"/>
              </a:rPr>
              <a:t>Tamaño orden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743200"/>
            <a:ext cx="2743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 i="0">
                <a:solidFill>
                  <a:srgbClr val="FDB813"/>
                </a:solidFill>
                <a:latin typeface="Calibri"/>
              </a:rPr>
              <a:t>3.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2743200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 i="0">
                <a:solidFill>
                  <a:srgbClr val="1F3A68"/>
                </a:solidFill>
                <a:latin typeface="Consolas"/>
              </a:rPr>
              <a:t>delivery_delay_days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92640" y="2743200"/>
            <a:ext cx="10058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 i="0">
                <a:solidFill>
                  <a:srgbClr val="607080"/>
                </a:solidFill>
                <a:latin typeface="Calibri"/>
              </a:rPr>
              <a:t>−0.030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0" y="2743200"/>
            <a:ext cx="11887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 i="0">
                <a:solidFill>
                  <a:srgbClr val="FDB813"/>
                </a:solidFill>
                <a:latin typeface="Calibri"/>
              </a:rPr>
              <a:t>Retraso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3337560"/>
            <a:ext cx="2743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 i="0">
                <a:solidFill>
                  <a:srgbClr val="FDB813"/>
                </a:solidFill>
                <a:latin typeface="Calibri"/>
              </a:rPr>
              <a:t>4.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3337560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 i="0">
                <a:solidFill>
                  <a:srgbClr val="1F3A68"/>
                </a:solidFill>
                <a:latin typeface="Consolas"/>
              </a:rPr>
              <a:t>first_product_category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2640" y="3337560"/>
            <a:ext cx="10058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 i="0">
                <a:solidFill>
                  <a:srgbClr val="607080"/>
                </a:solidFill>
                <a:latin typeface="Calibri"/>
              </a:rPr>
              <a:t>−0.008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0" y="3337560"/>
            <a:ext cx="11887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 i="0">
                <a:solidFill>
                  <a:srgbClr val="FDB813"/>
                </a:solidFill>
                <a:latin typeface="Calibri"/>
              </a:rPr>
              <a:t>Categoría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60" y="3931920"/>
            <a:ext cx="2743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 i="0">
                <a:solidFill>
                  <a:srgbClr val="FDB813"/>
                </a:solidFill>
                <a:latin typeface="Calibri"/>
              </a:rPr>
              <a:t>5.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3931920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 i="0">
                <a:solidFill>
                  <a:srgbClr val="1F3A68"/>
                </a:solidFill>
                <a:latin typeface="Consolas"/>
              </a:rPr>
              <a:t>customer_state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0" y="3931920"/>
            <a:ext cx="10058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 i="0">
                <a:solidFill>
                  <a:srgbClr val="607080"/>
                </a:solidFill>
                <a:latin typeface="Calibri"/>
              </a:rPr>
              <a:t>−0.003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3931920"/>
            <a:ext cx="11887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 i="0">
                <a:solidFill>
                  <a:srgbClr val="FDB813"/>
                </a:solidFill>
                <a:latin typeface="Calibri"/>
              </a:rPr>
              <a:t>Geografía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0" y="4526280"/>
            <a:ext cx="2743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 i="0">
                <a:solidFill>
                  <a:srgbClr val="FDB813"/>
                </a:solidFill>
                <a:latin typeface="Calibri"/>
              </a:rPr>
              <a:t>6.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4526280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 i="0">
                <a:solidFill>
                  <a:srgbClr val="1F3A68"/>
                </a:solidFill>
                <a:latin typeface="Consolas"/>
              </a:rPr>
              <a:t>n_distinct_sellers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92640" y="4526280"/>
            <a:ext cx="10058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 i="0">
                <a:solidFill>
                  <a:srgbClr val="607080"/>
                </a:solidFill>
                <a:latin typeface="Calibri"/>
              </a:rPr>
              <a:t>−0.003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98480" y="4526280"/>
            <a:ext cx="11887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 i="0">
                <a:solidFill>
                  <a:srgbClr val="FDB813"/>
                </a:solidFill>
                <a:latin typeface="Calibri"/>
              </a:rPr>
              <a:t>Complejidad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080760"/>
            <a:ext cx="11338560" cy="5486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612648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 i="0">
                <a:solidFill>
                  <a:srgbClr val="1F3A68"/>
                </a:solidFill>
                <a:latin typeface="Calibri"/>
              </a:rPr>
              <a:t>Confirma H1 y H2 del EDA: la logística es el driver dominante. Lo estadístico predijo lo predictivo.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25912" y="6446520"/>
            <a:ext cx="12801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07080"/>
                </a:solidFill>
                <a:latin typeface="Calibri"/>
              </a:rPr>
              <a:t>Olist · 13/17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7. Fase 5 — 7 recomendaciones de negocio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FDB8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914400" cy="64008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91440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R1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960120"/>
            <a:ext cx="8229600" cy="6400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00200" y="1051560"/>
            <a:ext cx="7863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1F3A68"/>
                </a:solidFill>
                <a:latin typeface="Calibri"/>
              </a:rPr>
              <a:t>Hubs logísticos en Nordeste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200" y="960120"/>
            <a:ext cx="2194560" cy="64008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0" y="960120"/>
            <a:ext cx="219456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+1.5 a +2.0 p.p.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673352"/>
            <a:ext cx="914400" cy="640080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673352"/>
            <a:ext cx="91440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R2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1673352"/>
            <a:ext cx="8229600" cy="6400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00200" y="1764792"/>
            <a:ext cx="7863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1F3A68"/>
                </a:solidFill>
                <a:latin typeface="Calibri"/>
              </a:rPr>
              <a:t>Auditoría categorías CSAT &lt; 75%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01200" y="1673352"/>
            <a:ext cx="2194560" cy="640080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0" y="1673352"/>
            <a:ext cx="219456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+0.8 p.p.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386584"/>
            <a:ext cx="914400" cy="640080"/>
          </a:xfrm>
          <a:prstGeom prst="rect">
            <a:avLst/>
          </a:prstGeom>
          <a:solidFill>
            <a:srgbClr val="FDB8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2386584"/>
            <a:ext cx="91440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R3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71600" y="2386584"/>
            <a:ext cx="8229600" cy="6400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00200" y="2478024"/>
            <a:ext cx="7863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1F3A68"/>
                </a:solidFill>
                <a:latin typeface="Calibri"/>
              </a:rPr>
              <a:t>Modelo predictivo en el CRM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01200" y="2386584"/>
            <a:ext cx="2194560" cy="640080"/>
          </a:xfrm>
          <a:prstGeom prst="rect">
            <a:avLst/>
          </a:prstGeom>
          <a:solidFill>
            <a:srgbClr val="FDB8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0" y="2386584"/>
            <a:ext cx="219456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+1.0 a +1.5 p.p.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099815"/>
            <a:ext cx="914400" cy="64008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3099815"/>
            <a:ext cx="91440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R4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371600" y="3099815"/>
            <a:ext cx="8229600" cy="6400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00200" y="3191255"/>
            <a:ext cx="7863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1F3A68"/>
                </a:solidFill>
                <a:latin typeface="Calibri"/>
              </a:rPr>
              <a:t>Diversificación geográfica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01200" y="3099815"/>
            <a:ext cx="2194560" cy="64008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0" y="3099815"/>
            <a:ext cx="219456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Riesgo ↓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813048"/>
            <a:ext cx="914400" cy="640080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813048"/>
            <a:ext cx="91440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R5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371600" y="3813048"/>
            <a:ext cx="8229600" cy="6400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00200" y="3904488"/>
            <a:ext cx="7863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1F3A68"/>
                </a:solidFill>
                <a:latin typeface="Calibri"/>
              </a:rPr>
              <a:t>Comunicación proactiva cuotas &gt;6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601200" y="3813048"/>
            <a:ext cx="2194560" cy="640080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01200" y="3813048"/>
            <a:ext cx="219456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+0.4 p.p.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4526280"/>
            <a:ext cx="914400" cy="64008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4526280"/>
            <a:ext cx="91440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R6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371600" y="4526280"/>
            <a:ext cx="8229600" cy="6400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600200" y="4617720"/>
            <a:ext cx="7863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1F3A68"/>
                </a:solidFill>
                <a:latin typeface="Calibri"/>
              </a:rPr>
              <a:t>Plan operativo Black Friday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601200" y="4526280"/>
            <a:ext cx="2194560" cy="64008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601200" y="4526280"/>
            <a:ext cx="219456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Evita −1.0 p.p.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5239512"/>
            <a:ext cx="914400" cy="64008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5239512"/>
            <a:ext cx="91440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R7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0" y="5239512"/>
            <a:ext cx="8229600" cy="6400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600200" y="5330952"/>
            <a:ext cx="7863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1F3A68"/>
                </a:solidFill>
                <a:latin typeface="Calibri"/>
              </a:rPr>
              <a:t>Comité ejecutivo semanal del dashboard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601200" y="5239512"/>
            <a:ext cx="2194560" cy="64008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601200" y="5239512"/>
            <a:ext cx="219456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Indirecto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6126480"/>
            <a:ext cx="11338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DB813"/>
                </a:solidFill>
                <a:latin typeface="Calibri"/>
              </a:rPr>
              <a:t>Impacto agregado esperado: +3.7 a +4.7 p.p. CSAT en 12 meses · de 77.6% → ~82%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725912" y="6446520"/>
            <a:ext cx="12801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07080"/>
                </a:solidFill>
                <a:latin typeface="Calibri"/>
              </a:rPr>
              <a:t>Olist · 14/17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7.1 Hoja de ruta — 90 / 180 / 365 días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FDB8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3657600" cy="9144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3657600" cy="9144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90 días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103120"/>
            <a:ext cx="3657600" cy="36576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286000"/>
            <a:ext cx="3291840" cy="3291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0">
                <a:solidFill>
                  <a:srgbClr val="1F3A68"/>
                </a:solidFill>
                <a:latin typeface="Calibri"/>
              </a:rPr>
              <a:t>Comité semanal (R7)</a:t>
            </a:r>
          </a:p>
          <a:p>
            <a:pPr algn="l"/>
            <a:r>
              <a:rPr sz="1400" b="0" i="0">
                <a:solidFill>
                  <a:srgbClr val="1F3A68"/>
                </a:solidFill>
                <a:latin typeface="Calibri"/>
              </a:rPr>
              <a:t>Modelo en producción (R3)</a:t>
            </a:r>
          </a:p>
          <a:p>
            <a:pPr algn="l"/>
            <a:r>
              <a:rPr sz="1400" b="0" i="0">
                <a:solidFill>
                  <a:srgbClr val="1F3A68"/>
                </a:solidFill>
                <a:latin typeface="Calibri"/>
              </a:rPr>
              <a:t>Auditoría 3 categorías (R2)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1188720"/>
            <a:ext cx="3657600" cy="914400"/>
          </a:xfrm>
          <a:prstGeom prst="rect">
            <a:avLst/>
          </a:prstGeom>
          <a:solidFill>
            <a:srgbClr val="FDB8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1188720"/>
            <a:ext cx="3657600" cy="9144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180 días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2103120"/>
            <a:ext cx="3657600" cy="36576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2286000"/>
            <a:ext cx="3291840" cy="3291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0">
                <a:solidFill>
                  <a:srgbClr val="1F3A68"/>
                </a:solidFill>
                <a:latin typeface="Calibri"/>
              </a:rPr>
              <a:t>Programa cuotas largas (R5)</a:t>
            </a:r>
          </a:p>
          <a:p>
            <a:pPr algn="l"/>
            <a:r>
              <a:rPr sz="1400" b="0" i="0">
                <a:solidFill>
                  <a:srgbClr val="1F3A68"/>
                </a:solidFill>
                <a:latin typeface="Calibri"/>
              </a:rPr>
              <a:t>Plan Black Friday (R6)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1188720"/>
            <a:ext cx="3657600" cy="9144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188720"/>
            <a:ext cx="3657600" cy="9144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365 días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2103120"/>
            <a:ext cx="3657600" cy="36576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2286000"/>
            <a:ext cx="3291840" cy="3291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0">
                <a:solidFill>
                  <a:srgbClr val="1F3A68"/>
                </a:solidFill>
                <a:latin typeface="Calibri"/>
              </a:rPr>
              <a:t>Hub logístico Recife/Salvador (R1)</a:t>
            </a:r>
          </a:p>
          <a:p>
            <a:pPr algn="l"/>
            <a:r>
              <a:rPr sz="1400" b="0" i="0">
                <a:solidFill>
                  <a:srgbClr val="1F3A68"/>
                </a:solidFill>
                <a:latin typeface="Calibri"/>
              </a:rPr>
              <a:t>Diversificación geográfica (R4)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852160"/>
            <a:ext cx="11338560" cy="640080"/>
          </a:xfrm>
          <a:prstGeom prst="rect">
            <a:avLst/>
          </a:prstGeom>
          <a:solidFill>
            <a:srgbClr val="FDB8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5897880"/>
            <a:ext cx="109728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400" b="1" i="0">
                <a:solidFill>
                  <a:srgbClr val="1F3A68"/>
                </a:solidFill>
                <a:latin typeface="Calibri"/>
              </a:rPr>
              <a:t>Quick win: R3 + R7 en 90 días — pone a producir el modelo y a usar el dashboard semanalmente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5912" y="6446520"/>
            <a:ext cx="12801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07080"/>
                </a:solidFill>
                <a:latin typeface="Calibri"/>
              </a:rPr>
              <a:t>Olist · 15/17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8. Limitaciones, ética y próximos pasos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FDB8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5577840" cy="52120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143000"/>
            <a:ext cx="53035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 i="0">
                <a:solidFill>
                  <a:srgbClr val="C62828"/>
                </a:solidFill>
                <a:latin typeface="Calibri"/>
              </a:rPr>
              <a:t>Limitaciones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45920"/>
            <a:ext cx="51206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1F3A68"/>
                </a:solidFill>
                <a:latin typeface="Calibri"/>
              </a:rPr>
              <a:t>• Datos cerrados en 2018 (pre-pandemia)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48840"/>
            <a:ext cx="51206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1F3A68"/>
                </a:solidFill>
                <a:latin typeface="Calibri"/>
              </a:rPr>
              <a:t>• Sin texto de reseñas (NLP fuera de alcance)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651760"/>
            <a:ext cx="51206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1F3A68"/>
                </a:solidFill>
                <a:latin typeface="Calibri"/>
              </a:rPr>
              <a:t>• AUC=0.70: razonable, no excelente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154680"/>
            <a:ext cx="51206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1F3A68"/>
                </a:solidFill>
                <a:latin typeface="Calibri"/>
              </a:rPr>
              <a:t>• Split aleatorio, no temporal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657600"/>
            <a:ext cx="51206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1F3A68"/>
                </a:solidFill>
                <a:latin typeface="Calibri"/>
              </a:rPr>
              <a:t>• Sin tuning exhaustivo (Optuna pendiente)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160520"/>
            <a:ext cx="51206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1F3A68"/>
                </a:solidFill>
                <a:latin typeface="Calibri"/>
              </a:rPr>
              <a:t>• Validación observacional, no A/B test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663440"/>
            <a:ext cx="51206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1F3A68"/>
                </a:solidFill>
                <a:latin typeface="Calibri"/>
              </a:rPr>
              <a:t>• Sesgo de selección regional (66% sudeste)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005840"/>
            <a:ext cx="5577840" cy="52120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1143000"/>
            <a:ext cx="53035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 i="0">
                <a:solidFill>
                  <a:srgbClr val="2E7D32"/>
                </a:solidFill>
                <a:latin typeface="Calibri"/>
              </a:rPr>
              <a:t>Ética + próximos pasos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1645920"/>
            <a:ext cx="51206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2E7D32"/>
                </a:solidFill>
                <a:latin typeface="Calibri"/>
              </a:rPr>
              <a:t>✓ Datos anonimizados desde la fuente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057400"/>
            <a:ext cx="51206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2E7D32"/>
                </a:solidFill>
                <a:latin typeface="Calibri"/>
              </a:rPr>
              <a:t>✓ No usa variables protegidas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468880"/>
            <a:ext cx="51206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2E7D32"/>
                </a:solidFill>
                <a:latin typeface="Calibri"/>
              </a:rPr>
              <a:t>✓ Features operacionales (no socio-dem.)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880360"/>
            <a:ext cx="51206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2E7D32"/>
                </a:solidFill>
                <a:latin typeface="Calibri"/>
              </a:rPr>
              <a:t>✓ Human-in-the-loop en intervenciones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291840"/>
            <a:ext cx="51206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1F3A68"/>
                </a:solidFill>
                <a:latin typeface="Calibri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703320"/>
            <a:ext cx="51206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 i="0">
                <a:solidFill>
                  <a:srgbClr val="1F3A68"/>
                </a:solidFill>
                <a:latin typeface="Calibri"/>
              </a:rPr>
              <a:t>Siguientes: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114800"/>
            <a:ext cx="51206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1F3A68"/>
                </a:solidFill>
                <a:latin typeface="Calibri"/>
              </a:rPr>
              <a:t>• NLP sobre las reseñas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526280"/>
            <a:ext cx="51206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1F3A68"/>
                </a:solidFill>
                <a:latin typeface="Calibri"/>
              </a:rPr>
              <a:t>• Modelo enriquecido + texto + RFM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4937760"/>
            <a:ext cx="51206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1F3A68"/>
                </a:solidFill>
                <a:latin typeface="Calibri"/>
              </a:rPr>
              <a:t>• Experimento A/B para validar R3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5349240"/>
            <a:ext cx="51206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1F3A68"/>
                </a:solidFill>
                <a:latin typeface="Calibri"/>
              </a:rPr>
              <a:t>• Refresco trimestral del modelo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25912" y="6446520"/>
            <a:ext cx="12801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07080"/>
                </a:solidFill>
                <a:latin typeface="Calibri"/>
              </a:rPr>
              <a:t>Olist · 16/17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0"/>
            <a:ext cx="12188952" cy="640080"/>
          </a:xfrm>
          <a:prstGeom prst="rect">
            <a:avLst/>
          </a:prstGeom>
          <a:solidFill>
            <a:srgbClr val="FDB8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08792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7200" b="1" i="0">
                <a:solidFill>
                  <a:srgbClr val="FFFFFF"/>
                </a:solidFill>
                <a:latin typeface="Calibri"/>
              </a:rPr>
              <a:t>Gracias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08792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"/>
              </a:rPr>
              <a:t>Las 5 fases cumplidas, los 7 artefactos entregados,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291840"/>
            <a:ext cx="10908792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1" i="0">
                <a:solidFill>
                  <a:srgbClr val="FDB813"/>
                </a:solidFill>
                <a:latin typeface="Calibri"/>
              </a:rPr>
              <a:t>y un modelo en producción listo para impactar el CSAT.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72000"/>
            <a:ext cx="10908792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0" i="1">
                <a:solidFill>
                  <a:srgbClr val="FFFFFF"/>
                </a:solidFill>
                <a:latin typeface="Calibri"/>
              </a:rPr>
              <a:t>¿Preguntas?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577840"/>
            <a:ext cx="1090879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Carlos David Moreno · admmoreno.david@gmail.com · Mayo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