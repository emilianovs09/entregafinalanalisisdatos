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0879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INSTITUTO TECNOLÓGICO METROPOLITANO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08792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Proyecto de Análisis de Datos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y Modelo Predictivo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908792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 i="0">
                <a:solidFill>
                  <a:srgbClr val="FDB813"/>
                </a:solidFill>
                <a:latin typeface="Calibri"/>
              </a:rPr>
              <a:t>Caso: marketplace brasileño Olist (2017-2018)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Carlos Alberto Moreno David · Juan Esteban García Ocampo · Emiliano Vélez Suárez · Sebastián Ciro Medellín  ·  Mayo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40680"/>
            <a:ext cx="1090879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Docentes: Carlos Jaramillo · Gustavo Macias · Daniel Nieto · July Galeano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5720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7899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Calibri"/>
              </a:rPr>
              <a:t>1. El problema de negocio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9728" cy="45720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Calibri"/>
              </a:rPr>
              <a:t>2. Datos y metodología (5 fases)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109728" cy="45720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Calibri"/>
              </a:rPr>
              <a:t>3. Fase 1 — ETL y modelo dimensional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80360"/>
            <a:ext cx="109728" cy="45720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6207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Calibri"/>
              </a:rPr>
              <a:t>4. Fase 2 — EDA, KPIs y hipótesis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109728" cy="45720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5643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Calibri"/>
              </a:rPr>
              <a:t>5. Fase 3 — Dashboard de BI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69080"/>
            <a:ext cx="109728" cy="45720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50791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Calibri"/>
              </a:rPr>
              <a:t>6. Fase 4 — Modelado predictivo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63440"/>
            <a:ext cx="109728" cy="45720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4515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Calibri"/>
              </a:rPr>
              <a:t>7. Fase 5 — Conclusiones y 7 recomendaciones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57800"/>
            <a:ext cx="109728" cy="45720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39512"/>
            <a:ext cx="10058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Calibri"/>
              </a:rPr>
              <a:t>8. Limitaciones, ética y próximos pasos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5912" y="6446520"/>
            <a:ext cx="1280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07080"/>
                </a:solidFill>
                <a:latin typeface="Calibri"/>
              </a:rPr>
              <a:t>Olist · 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1. El problema de negocio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Calibri"/>
              </a:rPr>
              <a:t>Predecir si una orden recibirá una reseña positiva (≥4★)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607080"/>
                </a:solidFill>
                <a:latin typeface="Calibri"/>
              </a:rPr>
              <a:t>...a partir de variables observables al momento de cerrar la orden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5303520" cy="3291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3A68"/>
                </a:solidFill>
                <a:latin typeface="Calibri"/>
              </a:rPr>
              <a:t>¿Por qué importa?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• 22.4% de clientes hoy quedan insatisfechos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• Una reseña negativa publicada es ~10× más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  costosa que prevenirla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976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• Permite intervención proactiva del CRM: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  comunicación, ajuste logístico, cupón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• Alimenta la PN10 del dashboard: 'órdenes 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9496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  riesgo' priorizadas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560320"/>
            <a:ext cx="5303520" cy="3291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6974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3A68"/>
                </a:solidFill>
                <a:latin typeface="Calibri"/>
              </a:rPr>
              <a:t>¿Por qué clasificación binaria?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004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• Necesitamos una bandera ACCIONABLE (sí/no)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• review_score es ordinal — no estrictamente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3192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  numérico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976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• Distribución bimodal: la mayoría son 5 o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6634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• Una regresión genera predicciones 'en 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0292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  centro' que no son accionables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39496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• Target: is_positive_review (1 si score ≥ 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912" y="6446520"/>
            <a:ext cx="1280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07080"/>
                </a:solidFill>
                <a:latin typeface="Calibri"/>
              </a:rPr>
              <a:t>Olist · 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2. Datos y metodología — 5 fases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Calibri"/>
              </a:rPr>
              <a:t>Dataset: Brazilian E-Commerce by Olist · 98 666 órdenes · 2017-2018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2103120" cy="50292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10312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Fase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2103120" cy="2286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1F3A68"/>
                </a:solidFill>
                <a:latin typeface="Calibri"/>
              </a:rPr>
              <a:t>Recopilación</a:t>
            </a:r>
          </a:p>
          <a:p>
            <a:pPr algn="ctr"/>
            <a:r>
              <a:rPr sz="1500" b="1" i="0">
                <a:solidFill>
                  <a:srgbClr val="1F3A68"/>
                </a:solidFill>
                <a:latin typeface="Calibri"/>
              </a:rPr>
              <a:t>+ ETL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03320"/>
            <a:ext cx="20116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607080"/>
                </a:solidFill>
                <a:latin typeface="Calibri"/>
              </a:rPr>
              <a:t>9 CSV → estrella</a:t>
            </a:r>
          </a:p>
          <a:p>
            <a:pPr algn="ctr"/>
            <a:r>
              <a:rPr sz="1200" b="0" i="0">
                <a:solidFill>
                  <a:srgbClr val="607080"/>
                </a:solidFill>
                <a:latin typeface="Calibri"/>
              </a:rPr>
              <a:t>12/12 validaciones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194560"/>
            <a:ext cx="2103120" cy="50292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194560"/>
            <a:ext cx="210312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Fase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697480"/>
            <a:ext cx="2103120" cy="2286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788920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1F3A68"/>
                </a:solidFill>
                <a:latin typeface="Calibri"/>
              </a:rPr>
              <a:t>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703320"/>
            <a:ext cx="20116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607080"/>
                </a:solidFill>
                <a:latin typeface="Calibri"/>
              </a:rPr>
              <a:t>KPIs + 5 hipótesis</a:t>
            </a:r>
          </a:p>
          <a:p>
            <a:pPr algn="ctr"/>
            <a:r>
              <a:rPr sz="1200" b="0" i="0">
                <a:solidFill>
                  <a:srgbClr val="607080"/>
                </a:solidFill>
                <a:latin typeface="Calibri"/>
              </a:rPr>
              <a:t>stats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194560"/>
            <a:ext cx="2103120" cy="50292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194560"/>
            <a:ext cx="210312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Fase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697480"/>
            <a:ext cx="2103120" cy="2286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2788920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1F3A68"/>
                </a:solidFill>
                <a:latin typeface="Calibri"/>
              </a:rPr>
              <a:t>Inteligencia</a:t>
            </a:r>
          </a:p>
          <a:p>
            <a:pPr algn="ctr"/>
            <a:r>
              <a:rPr sz="1500" b="1" i="0">
                <a:solidFill>
                  <a:srgbClr val="1F3A68"/>
                </a:solidFill>
                <a:latin typeface="Calibri"/>
              </a:rPr>
              <a:t>de Negocios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703320"/>
            <a:ext cx="20116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607080"/>
                </a:solidFill>
                <a:latin typeface="Calibri"/>
              </a:rPr>
              <a:t>Dashboard PBI</a:t>
            </a:r>
          </a:p>
          <a:p>
            <a:pPr algn="ctr"/>
            <a:r>
              <a:rPr sz="1200" b="0" i="0">
                <a:solidFill>
                  <a:srgbClr val="607080"/>
                </a:solidFill>
                <a:latin typeface="Calibri"/>
              </a:rPr>
              <a:t>+ HTML espejo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194560"/>
            <a:ext cx="2103120" cy="50292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194560"/>
            <a:ext cx="210312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Fase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697480"/>
            <a:ext cx="2103120" cy="2286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2788920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1F3A68"/>
                </a:solidFill>
                <a:latin typeface="Calibri"/>
              </a:rPr>
              <a:t>Modelo</a:t>
            </a:r>
          </a:p>
          <a:p>
            <a:pPr algn="ctr"/>
            <a:r>
              <a:rPr sz="1500" b="1" i="0">
                <a:solidFill>
                  <a:srgbClr val="1F3A68"/>
                </a:solidFill>
                <a:latin typeface="Calibri"/>
              </a:rPr>
              <a:t>Predictivo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703320"/>
            <a:ext cx="20116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607080"/>
                </a:solidFill>
                <a:latin typeface="Calibri"/>
              </a:rPr>
              <a:t>XGBoost</a:t>
            </a:r>
          </a:p>
          <a:p>
            <a:pPr algn="ctr"/>
            <a:r>
              <a:rPr sz="1200" b="0" i="0">
                <a:solidFill>
                  <a:srgbClr val="607080"/>
                </a:solidFill>
                <a:latin typeface="Calibri"/>
              </a:rPr>
              <a:t>AUC = 0.70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2194560"/>
            <a:ext cx="2103120" cy="50292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194560"/>
            <a:ext cx="210312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Fase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2697480"/>
            <a:ext cx="2103120" cy="2286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2788920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1F3A68"/>
                </a:solidFill>
                <a:latin typeface="Calibri"/>
              </a:rPr>
              <a:t>Conclusiones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703320"/>
            <a:ext cx="20116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607080"/>
                </a:solidFill>
                <a:latin typeface="Calibri"/>
              </a:rPr>
              <a:t>7 recomendaciones</a:t>
            </a:r>
          </a:p>
          <a:p>
            <a:pPr algn="ctr"/>
            <a:r>
              <a:rPr sz="1200" b="0" i="0">
                <a:solidFill>
                  <a:srgbClr val="607080"/>
                </a:solidFill>
                <a:latin typeface="Calibri"/>
              </a:rPr>
              <a:t>impacto +4 p.p.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 i="0">
                <a:solidFill>
                  <a:srgbClr val="607080"/>
                </a:solidFill>
                <a:latin typeface="Calibri"/>
              </a:rPr>
              <a:t>Stack: Python · pandas · scikit-learn · XGBoost · Power BI · DAX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5912" y="6446520"/>
            <a:ext cx="1280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07080"/>
                </a:solidFill>
                <a:latin typeface="Calibri"/>
              </a:rPr>
              <a:t>Olist · 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3. Fase 1 — ETL y modelo dimensional estrella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5669280" cy="4572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F3A68"/>
                </a:solidFill>
                <a:latin typeface="Calibri"/>
              </a:rPr>
              <a:t>Esquema estrella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926080"/>
            <a:ext cx="1463040" cy="73152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92608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OrderItems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(95k)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4389120"/>
            <a:ext cx="1463040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4389120"/>
            <a:ext cx="14630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Payments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737360"/>
            <a:ext cx="1280160" cy="54864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737360"/>
            <a:ext cx="12801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Customers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737360"/>
            <a:ext cx="1280160" cy="54864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737360"/>
            <a:ext cx="12801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Sellers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108960"/>
            <a:ext cx="1280160" cy="54864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108960"/>
            <a:ext cx="12801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Products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108960"/>
            <a:ext cx="1280160" cy="54864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108960"/>
            <a:ext cx="12801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480560"/>
            <a:ext cx="1280160" cy="54864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12801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Reviews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4480560"/>
            <a:ext cx="1280160" cy="54864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480560"/>
            <a:ext cx="12801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Geography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09728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3A68"/>
                </a:solidFill>
                <a:latin typeface="Calibri"/>
              </a:rPr>
              <a:t>Calidad del ETL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73736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FDB813"/>
                </a:solidFill>
                <a:latin typeface="Calibri"/>
              </a:rPr>
              <a:t>12/12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182880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Validaciones de integridad 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51460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FDB813"/>
                </a:solidFill>
                <a:latin typeface="Calibri"/>
              </a:rPr>
              <a:t>98 666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60604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órdenes con datos completos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291839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FDB813"/>
                </a:solidFill>
                <a:latin typeface="Calibri"/>
              </a:rPr>
              <a:t>19 015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38328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zip codes únicos (de 1M crudos)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069079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FDB813"/>
                </a:solidFill>
                <a:latin typeface="Calibri"/>
              </a:rPr>
              <a:t>0 huérfanos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16052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Foreign keys 100% válidas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84632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FDB813"/>
                </a:solidFill>
                <a:latin typeface="Calibri"/>
              </a:rPr>
              <a:t>Reproducible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93776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Pipeline parametrizado por rutas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5912" y="6446520"/>
            <a:ext cx="1280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07080"/>
                </a:solidFill>
                <a:latin typeface="Calibri"/>
              </a:rPr>
              <a:t>Olist · 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4. Fase 2 — KPIs operativos del marketplace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74320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9728" cy="219456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607080"/>
                </a:solidFill>
                <a:latin typeface="Calibri"/>
              </a:rPr>
              <a:t>CSAT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246888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3A68"/>
                </a:solidFill>
                <a:latin typeface="Calibri"/>
              </a:rPr>
              <a:t>77.6%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607080"/>
                </a:solidFill>
                <a:latin typeface="Calibri"/>
              </a:rPr>
              <a:t>Meta 80%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097280"/>
            <a:ext cx="274320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097280"/>
            <a:ext cx="109728" cy="219456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23444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607080"/>
                </a:solidFill>
                <a:latin typeface="Calibri"/>
              </a:rPr>
              <a:t>OTIF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645920"/>
            <a:ext cx="246888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3A68"/>
                </a:solidFill>
                <a:latin typeface="Calibri"/>
              </a:rPr>
              <a:t>91.9%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9748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607080"/>
                </a:solidFill>
                <a:latin typeface="Calibri"/>
              </a:rPr>
              <a:t>Meta ≥95%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274320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109728" cy="2194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23444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607080"/>
                </a:solidFill>
                <a:latin typeface="Calibri"/>
              </a:rPr>
              <a:t>Ticket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645920"/>
            <a:ext cx="246888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3A68"/>
                </a:solidFill>
                <a:latin typeface="Calibri"/>
              </a:rPr>
              <a:t>R$ 161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9748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607080"/>
                </a:solidFill>
                <a:latin typeface="Calibri"/>
              </a:rPr>
              <a:t>p99 R$1k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097280"/>
            <a:ext cx="274320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097280"/>
            <a:ext cx="109728" cy="2194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23444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607080"/>
                </a:solidFill>
                <a:latin typeface="Calibri"/>
              </a:rPr>
              <a:t>Días entrega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645920"/>
            <a:ext cx="246888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3A68"/>
                </a:solidFill>
                <a:latin typeface="Calibri"/>
              </a:rPr>
              <a:t>12.6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69748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607080"/>
                </a:solidFill>
                <a:latin typeface="Calibri"/>
              </a:rPr>
              <a:t>Mediana 10 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66160"/>
            <a:ext cx="274320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566160"/>
            <a:ext cx="109728" cy="2194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70332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607080"/>
                </a:solidFill>
                <a:latin typeface="Calibri"/>
              </a:rPr>
              <a:t>Cancelación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114800"/>
            <a:ext cx="246888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3A68"/>
                </a:solidFill>
                <a:latin typeface="Calibri"/>
              </a:rPr>
              <a:t>0.47%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16636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607080"/>
                </a:solidFill>
                <a:latin typeface="Calibri"/>
              </a:rPr>
              <a:t>Sano &lt;1%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3566160"/>
            <a:ext cx="274320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3566160"/>
            <a:ext cx="109728" cy="21945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370332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607080"/>
                </a:solidFill>
                <a:latin typeface="Calibri"/>
              </a:rPr>
              <a:t>Top-3 conc.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114800"/>
            <a:ext cx="246888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3A68"/>
                </a:solidFill>
                <a:latin typeface="Calibri"/>
              </a:rPr>
              <a:t>66.6%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16636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607080"/>
                </a:solidFill>
                <a:latin typeface="Calibri"/>
              </a:rPr>
              <a:t>Riesgo alto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566160"/>
            <a:ext cx="274320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566160"/>
            <a:ext cx="109728" cy="2194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70332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607080"/>
                </a:solidFill>
                <a:latin typeface="Calibri"/>
              </a:rPr>
              <a:t>Score promedio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114800"/>
            <a:ext cx="246888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3A68"/>
                </a:solidFill>
                <a:latin typeface="Calibri"/>
              </a:rPr>
              <a:t>4.10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16636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607080"/>
                </a:solidFill>
                <a:latin typeface="Calibri"/>
              </a:rPr>
              <a:t>Escala 1-5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3566160"/>
            <a:ext cx="274320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3566160"/>
            <a:ext cx="109728" cy="219456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370332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607080"/>
                </a:solidFill>
                <a:latin typeface="Calibri"/>
              </a:rPr>
              <a:t>Reviews neg.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114800"/>
            <a:ext cx="246888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3A68"/>
                </a:solidFill>
                <a:latin typeface="Calibri"/>
              </a:rPr>
              <a:t>22.4%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16636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607080"/>
                </a:solidFill>
                <a:latin typeface="Calibri"/>
              </a:rPr>
              <a:t>Oportunidad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25912" y="6446520"/>
            <a:ext cx="1280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07080"/>
                </a:solidFill>
                <a:latin typeface="Calibri"/>
              </a:rPr>
              <a:t>Olist · 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4.1 Fase 2 — Las 5 hipótesis: TODAS rechazadas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3A68"/>
                </a:solidFill>
                <a:latin typeface="Calibri"/>
              </a:rPr>
              <a:t>α = 0.05 · todas las H0 rechazadas con margen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48640" cy="4572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4864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1645920"/>
            <a:ext cx="6217920" cy="4572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45920"/>
            <a:ext cx="6217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Hipótesis nula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645920"/>
            <a:ext cx="1645920" cy="4572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645920"/>
            <a:ext cx="1645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645920"/>
            <a:ext cx="1280160" cy="4572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645920"/>
            <a:ext cx="12801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p-valor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32720" y="1645920"/>
            <a:ext cx="1188720" cy="4572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0" y="1645920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Estado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03120"/>
            <a:ext cx="108813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0312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H1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103120"/>
            <a:ext cx="62179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Tiempo de entrega = entre reseñas + y 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103120"/>
            <a:ext cx="16459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Mann-Whitney 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103120"/>
            <a:ext cx="12801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p &lt; 0.001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2103120"/>
            <a:ext cx="11887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  <a:latin typeface="Calibri"/>
              </a:rPr>
              <a:t>RECHAZADA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651760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65176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H2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2651760"/>
            <a:ext cx="62179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is_late independiente de reseña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651760"/>
            <a:ext cx="16459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Chi-cuadrado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651760"/>
            <a:ext cx="12801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p &lt; 0.001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651760"/>
            <a:ext cx="11887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  <a:latin typeface="Calibri"/>
              </a:rPr>
              <a:t>RECHAZADA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H3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200400"/>
            <a:ext cx="62179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Método de pago independiente de reseña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200400"/>
            <a:ext cx="16459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Chi-cuadrado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200400"/>
            <a:ext cx="12801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p &lt; 0.05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3200400"/>
            <a:ext cx="11887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  <a:latin typeface="Calibri"/>
              </a:rPr>
              <a:t>RECHAZADA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749040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74904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H4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3749040"/>
            <a:ext cx="62179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Cuotas y review_score NO correlacionados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749040"/>
            <a:ext cx="16459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Spearman 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749040"/>
            <a:ext cx="12801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p &lt; 0.05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3749040"/>
            <a:ext cx="11887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  <a:latin typeface="Calibri"/>
              </a:rPr>
              <a:t>RECHAZADA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29768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H5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4297680"/>
            <a:ext cx="62179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Tiempo entrega = sudeste vs resto país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4297680"/>
            <a:ext cx="16459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Mann-Whitney 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4297680"/>
            <a:ext cx="12801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F3A68"/>
                </a:solidFill>
                <a:latin typeface="Calibri"/>
              </a:rPr>
              <a:t>p &lt; 0.001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20" y="4297680"/>
            <a:ext cx="11887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  <a:latin typeface="Calibri"/>
              </a:rPr>
              <a:t>RECHAZADA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120640"/>
            <a:ext cx="1088136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52120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Calibri"/>
              </a:rPr>
              <a:t>Conclusión: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5778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La logística y la geografía SÍ son drivers reales de la satisfacción · evidencia robusta para Fase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5912" y="6446520"/>
            <a:ext cx="1280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07080"/>
                </a:solidFill>
                <a:latin typeface="Calibri"/>
              </a:rPr>
              <a:t>Olist · 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4.2 Fase 2 — Visualizaciones clave del EDA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csat_men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852160" cy="2651760"/>
          </a:xfrm>
          <a:prstGeom prst="rect">
            <a:avLst/>
          </a:prstGeom>
        </p:spPr>
      </p:pic>
      <p:pic>
        <p:nvPicPr>
          <p:cNvPr id="6" name="Picture 5" descr="05_pareto_est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0"/>
            <a:ext cx="5486400" cy="2651760"/>
          </a:xfrm>
          <a:prstGeom prst="rect">
            <a:avLst/>
          </a:prstGeom>
        </p:spPr>
      </p:pic>
      <p:pic>
        <p:nvPicPr>
          <p:cNvPr id="7" name="Picture 6" descr="06_boxplot_delivery_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03320"/>
            <a:ext cx="5852160" cy="2651760"/>
          </a:xfrm>
          <a:prstGeom prst="rect">
            <a:avLst/>
          </a:prstGeom>
        </p:spPr>
      </p:pic>
      <p:pic>
        <p:nvPicPr>
          <p:cNvPr id="8" name="Picture 7" descr="08_heatmap_cat_estad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03320"/>
            <a:ext cx="5486400" cy="2651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25912" y="6446520"/>
            <a:ext cx="1280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07080"/>
                </a:solidFill>
                <a:latin typeface="Calibri"/>
              </a:rPr>
              <a:t>Olist · 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5. Fase 3 — Dashboard BI · 3 páginas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5486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Página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38404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3A68"/>
                </a:solidFill>
                <a:latin typeface="Calibri"/>
              </a:rPr>
              <a:t>Resumen ejecutivo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607080"/>
                </a:solidFill>
                <a:latin typeface="Calibri"/>
              </a:rPr>
              <a:t>Audiencia: Gerencia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29184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KPI cards + serie temporal CSAT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005840"/>
            <a:ext cx="3657600" cy="54864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05840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Página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657600" cy="38404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9164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3A68"/>
                </a:solidFill>
                <a:latin typeface="Calibri"/>
              </a:rPr>
              <a:t>Operación y logística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9456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607080"/>
                </a:solidFill>
                <a:latin typeface="Calibri"/>
              </a:rPr>
              <a:t>Audiencia: Gerencia operaciones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51760"/>
            <a:ext cx="329184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Mapa Brasil + OTIF + Pareto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005840"/>
            <a:ext cx="3657600" cy="5486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005840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Página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554480"/>
            <a:ext cx="3657600" cy="38404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9164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3A68"/>
                </a:solidFill>
                <a:latin typeface="Calibri"/>
              </a:rPr>
              <a:t>Satisfacción cliente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19456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607080"/>
                </a:solidFill>
                <a:latin typeface="Calibri"/>
              </a:rPr>
              <a:t>Audiencia: Gerencia comercial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51760"/>
            <a:ext cx="329184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Treemap + heatmap + órdenes riesgo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86400"/>
            <a:ext cx="11338560" cy="7315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Calibri"/>
              </a:rPr>
              <a:t>Capa semántica: 30+ medidas DAX + Power Query (M) + dashboard HTML espejo (Plan 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607080"/>
                </a:solidFill>
                <a:latin typeface="Calibri"/>
              </a:rPr>
              <a:t>Validación cruzada Python ↔ DAX: delta &lt; 0.05 p.p. en todas las medidas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5912" y="6446520"/>
            <a:ext cx="1280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07080"/>
                </a:solidFill>
                <a:latin typeface="Calibri"/>
              </a:rPr>
              <a:t>Olist · 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5.1 Fase 3 — Insight: la logística es el problema regional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entrega_es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758952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09728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3A68"/>
                </a:solidFill>
                <a:latin typeface="Calibri"/>
              </a:rPr>
              <a:t>Lectura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64592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SP (sede): 8.7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01168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PR/MG/RS: 11-13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37744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Estados del Nordeste: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74320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    21-29 días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10896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    +CSAT cae 8-10 p.p.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47472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FDB813"/>
                </a:solidFill>
                <a:latin typeface="Calibri"/>
              </a:rPr>
              <a:t>Hipótesis H5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84048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rechazada con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20624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p &lt; 0.001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57200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93776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DB813"/>
                </a:solidFill>
                <a:latin typeface="Calibri"/>
              </a:rPr>
              <a:t>→ R1: hub logístico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530352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    en Recife/Salvador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446520"/>
            <a:ext cx="1280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07080"/>
                </a:solidFill>
                <a:latin typeface="Calibri"/>
              </a:rPr>
              <a:t>Olist · 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6. Fase 4 — Comparación de modelos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c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58952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14400"/>
            <a:ext cx="3474720" cy="36576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00584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1F3A68"/>
                </a:solidFill>
                <a:latin typeface="Calibri"/>
              </a:rPr>
              <a:t>Validación cruzada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55448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1F3A68"/>
                </a:solidFill>
                <a:latin typeface="Calibri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55448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DB813"/>
                </a:solidFill>
                <a:latin typeface="Calibri"/>
              </a:rPr>
              <a:t>AUC = 0.50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15544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07080"/>
                </a:solidFill>
                <a:latin typeface="Calibri"/>
              </a:rPr>
              <a:t>trivial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14884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1F3A68"/>
                </a:solidFill>
                <a:latin typeface="Calibri"/>
              </a:rPr>
              <a:t>RegLog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14884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DB813"/>
                </a:solidFill>
                <a:latin typeface="Calibri"/>
              </a:rPr>
              <a:t>AUC = 0.70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214884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07080"/>
                </a:solidFill>
                <a:latin typeface="Calibri"/>
              </a:rPr>
              <a:t>buena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4320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1F3A68"/>
                </a:solidFill>
                <a:latin typeface="Calibri"/>
              </a:rPr>
              <a:t>RandomForest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74320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DB813"/>
                </a:solidFill>
                <a:latin typeface="Calibri"/>
              </a:rPr>
              <a:t>AUC = 0.71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27432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07080"/>
                </a:solidFill>
                <a:latin typeface="Calibri"/>
              </a:rPr>
              <a:t>no lineal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375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1F3A68"/>
                </a:solidFill>
                <a:latin typeface="Calibri"/>
              </a:rPr>
              <a:t>XGBoost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33756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DB813"/>
                </a:solidFill>
                <a:latin typeface="Calibri"/>
              </a:rPr>
              <a:t>AUC = 0.70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333756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07080"/>
                </a:solidFill>
                <a:latin typeface="Calibri"/>
              </a:rPr>
              <a:t>elegido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11338560" cy="1463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1F3A68"/>
                </a:solidFill>
                <a:latin typeface="Calibri"/>
              </a:rPr>
              <a:t>¿Por qué XGBoost?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• Velocidad de entrenamiento y soporte nativo a desbalance (scale_pos_weight)</a:t>
            </a:r>
          </a:p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• Empate técnico en AUC con Random Forest, pero 4× más rápido</a:t>
            </a:r>
          </a:p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• Más maduro en producción y mejor soporte para SHAP/permutation importance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5912" y="6446520"/>
            <a:ext cx="1280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07080"/>
                </a:solidFill>
                <a:latin typeface="Calibri"/>
              </a:rPr>
              <a:t>Olist · 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6.1 Fase 4 — Evaluación final XGBoost (test set)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roc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7863840" cy="3200400"/>
          </a:xfrm>
          <a:prstGeom prst="rect">
            <a:avLst/>
          </a:prstGeom>
        </p:spPr>
      </p:pic>
      <p:pic>
        <p:nvPicPr>
          <p:cNvPr id="6" name="Picture 5" descr="02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3657600" cy="2468880"/>
          </a:xfrm>
          <a:prstGeom prst="rect">
            <a:avLst/>
          </a:prstGeom>
        </p:spPr>
      </p:pic>
      <p:pic>
        <p:nvPicPr>
          <p:cNvPr id="7" name="Picture 6" descr="04_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4114800"/>
            <a:ext cx="365760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03920" y="1005840"/>
            <a:ext cx="3291840" cy="1188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0" y="1005840"/>
            <a:ext cx="91440" cy="118872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097280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607080"/>
                </a:solidFill>
                <a:latin typeface="Calibri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417320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F3A68"/>
                </a:solidFill>
                <a:latin typeface="Calibri"/>
              </a:rPr>
              <a:t>0.748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377440"/>
            <a:ext cx="3291840" cy="1188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0" y="2377440"/>
            <a:ext cx="91440" cy="118872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468880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607080"/>
                </a:solidFill>
                <a:latin typeface="Calibri"/>
              </a:rPr>
              <a:t>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788920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F3A68"/>
                </a:solidFill>
                <a:latin typeface="Calibri"/>
              </a:rPr>
              <a:t>0.837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3749039"/>
            <a:ext cx="3291840" cy="1188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3749039"/>
            <a:ext cx="91440" cy="118872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3840479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607080"/>
                </a:solidFill>
                <a:latin typeface="Calibri"/>
              </a:rPr>
              <a:t>ROC-AUC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160519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F3A68"/>
                </a:solidFill>
                <a:latin typeface="Calibri"/>
              </a:rPr>
              <a:t>0.705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5120640"/>
            <a:ext cx="3291840" cy="1188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3920" y="5120640"/>
            <a:ext cx="91440" cy="118872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5212080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607080"/>
                </a:solidFill>
                <a:latin typeface="Calibri"/>
              </a:rPr>
              <a:t>PR-AUC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532120"/>
            <a:ext cx="310896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F3A68"/>
                </a:solidFill>
                <a:latin typeface="Calibri"/>
              </a:rPr>
              <a:t>0.874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5912" y="6446520"/>
            <a:ext cx="1280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07080"/>
                </a:solidFill>
                <a:latin typeface="Calibri"/>
              </a:rPr>
              <a:t>Olist · 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6.2 Fase 4 — Interpretabilidad: ¿qué pesa más?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4008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914400"/>
            <a:ext cx="4572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3A68"/>
                </a:solidFill>
                <a:latin typeface="Calibri"/>
              </a:rPr>
              <a:t>Top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55448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FDB813"/>
                </a:solidFill>
                <a:latin typeface="Calibri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55448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1F3A68"/>
                </a:solidFill>
                <a:latin typeface="Consolas"/>
              </a:rPr>
              <a:t>delivery_days_real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5544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07080"/>
                </a:solidFill>
                <a:latin typeface="Calibri"/>
              </a:rPr>
              <a:t>−0.044 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155448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FDB813"/>
                </a:solidFill>
                <a:latin typeface="Calibri"/>
              </a:rPr>
              <a:t>Logística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14884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FDB813"/>
                </a:solidFill>
                <a:latin typeface="Calibri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14884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1F3A68"/>
                </a:solidFill>
                <a:latin typeface="Consolas"/>
              </a:rPr>
              <a:t>n_items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14884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07080"/>
                </a:solidFill>
                <a:latin typeface="Calibri"/>
              </a:rPr>
              <a:t>−0.038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214884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FDB813"/>
                </a:solidFill>
                <a:latin typeface="Calibri"/>
              </a:rPr>
              <a:t>Tamaño orden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74320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FDB813"/>
                </a:solidFill>
                <a:latin typeface="Calibri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74320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1F3A68"/>
                </a:solidFill>
                <a:latin typeface="Consolas"/>
              </a:rPr>
              <a:t>delivery_delay_days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74320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07080"/>
                </a:solidFill>
                <a:latin typeface="Calibri"/>
              </a:rPr>
              <a:t>−0.030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27432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FDB813"/>
                </a:solidFill>
                <a:latin typeface="Calibri"/>
              </a:rPr>
              <a:t>Retraso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33756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FDB813"/>
                </a:solidFill>
                <a:latin typeface="Calibri"/>
              </a:rPr>
              <a:t>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33756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1F3A68"/>
                </a:solidFill>
                <a:latin typeface="Consolas"/>
              </a:rPr>
              <a:t>first_product_category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33756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07080"/>
                </a:solidFill>
                <a:latin typeface="Calibri"/>
              </a:rPr>
              <a:t>−0.008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333756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FDB813"/>
                </a:solidFill>
                <a:latin typeface="Calibri"/>
              </a:rPr>
              <a:t>Categoría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93192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FDB813"/>
                </a:solidFill>
                <a:latin typeface="Calibri"/>
              </a:rPr>
              <a:t>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93192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1F3A68"/>
                </a:solidFill>
                <a:latin typeface="Consolas"/>
              </a:rPr>
              <a:t>customer_state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93192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07080"/>
                </a:solidFill>
                <a:latin typeface="Calibri"/>
              </a:rPr>
              <a:t>−0.003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393192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FDB813"/>
                </a:solidFill>
                <a:latin typeface="Calibri"/>
              </a:rPr>
              <a:t>Geografía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52628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FDB813"/>
                </a:solidFill>
                <a:latin typeface="Calibri"/>
              </a:rPr>
              <a:t>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52628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1F3A68"/>
                </a:solidFill>
                <a:latin typeface="Consolas"/>
              </a:rPr>
              <a:t>n_distinct_sellers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07080"/>
                </a:solidFill>
                <a:latin typeface="Calibri"/>
              </a:rPr>
              <a:t>−0.003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452628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FDB813"/>
                </a:solidFill>
                <a:latin typeface="Calibri"/>
              </a:rPr>
              <a:t>Complejidad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080760"/>
            <a:ext cx="1133856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1F3A68"/>
                </a:solidFill>
                <a:latin typeface="Calibri"/>
              </a:rPr>
              <a:t>Confirma H1 y H2 del EDA: la logística es el driver dominante. Lo estadístico predijo lo predictivo.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5912" y="6446520"/>
            <a:ext cx="1280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07080"/>
                </a:solidFill>
                <a:latin typeface="Calibri"/>
              </a:rPr>
              <a:t>Olist · 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7. Fase 5 — 7 recomendaciones de negocio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0" cy="6400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9144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960120"/>
            <a:ext cx="822960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051560"/>
            <a:ext cx="7863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F3A68"/>
                </a:solidFill>
                <a:latin typeface="Calibri"/>
              </a:rPr>
              <a:t>Hubs logísticos en Nordeste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960120"/>
            <a:ext cx="2194560" cy="6400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960120"/>
            <a:ext cx="21945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+1.5 a +2.0 p.p.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73352"/>
            <a:ext cx="914400" cy="64008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73352"/>
            <a:ext cx="9144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1673352"/>
            <a:ext cx="822960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1764792"/>
            <a:ext cx="7863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F3A68"/>
                </a:solidFill>
                <a:latin typeface="Calibri"/>
              </a:rPr>
              <a:t>Auditoría categorías CSAT &lt; 75%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673352"/>
            <a:ext cx="2194560" cy="64008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673352"/>
            <a:ext cx="21945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+0.8 p.p.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86584"/>
            <a:ext cx="914400" cy="6400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86584"/>
            <a:ext cx="9144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2386584"/>
            <a:ext cx="822960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2478024"/>
            <a:ext cx="7863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F3A68"/>
                </a:solidFill>
                <a:latin typeface="Calibri"/>
              </a:rPr>
              <a:t>Modelo predictivo en el CRM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386584"/>
            <a:ext cx="2194560" cy="6400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386584"/>
            <a:ext cx="21945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+1.0 a +1.5 p.p.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99815"/>
            <a:ext cx="914400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99815"/>
            <a:ext cx="9144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099815"/>
            <a:ext cx="822960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3191255"/>
            <a:ext cx="7863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F3A68"/>
                </a:solidFill>
                <a:latin typeface="Calibri"/>
              </a:rPr>
              <a:t>Diversificación geográfica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099815"/>
            <a:ext cx="2194560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099815"/>
            <a:ext cx="21945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Riesgo 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13048"/>
            <a:ext cx="914400" cy="64008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813048"/>
            <a:ext cx="9144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3813048"/>
            <a:ext cx="822960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00200" y="3904488"/>
            <a:ext cx="7863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F3A68"/>
                </a:solidFill>
                <a:latin typeface="Calibri"/>
              </a:rPr>
              <a:t>Comunicación proactiva cuotas &gt;6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3813048"/>
            <a:ext cx="2194560" cy="64008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3813048"/>
            <a:ext cx="21945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+0.4 p.p.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526280"/>
            <a:ext cx="914400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526280"/>
            <a:ext cx="9144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4526280"/>
            <a:ext cx="822960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00200" y="4617720"/>
            <a:ext cx="7863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F3A68"/>
                </a:solidFill>
                <a:latin typeface="Calibri"/>
              </a:rPr>
              <a:t>Plan operativo Black Friday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4526280"/>
            <a:ext cx="2194560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0" y="4526280"/>
            <a:ext cx="21945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Evita −1.0 p.p.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239512"/>
            <a:ext cx="914400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239512"/>
            <a:ext cx="9144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0" y="5239512"/>
            <a:ext cx="822960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00200" y="5330952"/>
            <a:ext cx="7863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1F3A68"/>
                </a:solidFill>
                <a:latin typeface="Calibri"/>
              </a:rPr>
              <a:t>Comité ejecutivo semanal del dashboard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5239512"/>
            <a:ext cx="2194560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0" y="5239512"/>
            <a:ext cx="21945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Indirecto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126480"/>
            <a:ext cx="11338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DB813"/>
                </a:solidFill>
                <a:latin typeface="Calibri"/>
              </a:rPr>
              <a:t>Impacto agregado esperado: +3.7 a +4.7 p.p. CSAT en 12 meses · de 77.6% → ~82%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25912" y="6446520"/>
            <a:ext cx="1280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07080"/>
                </a:solidFill>
                <a:latin typeface="Calibri"/>
              </a:rPr>
              <a:t>Olist · 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7.1 Hoja de ruta — 90 / 180 / 365 días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57600" cy="9144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65760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90 días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657600" cy="36576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29184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Comité semanal (R7)</a:t>
            </a:r>
          </a:p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Modelo en producción (R3)</a:t>
            </a:r>
          </a:p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Auditoría 3 categorías (R2)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188720"/>
            <a:ext cx="3657600" cy="91440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65760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180 días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03120"/>
            <a:ext cx="3657600" cy="36576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286000"/>
            <a:ext cx="329184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Programa cuotas largas (R5)</a:t>
            </a:r>
          </a:p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Plan Black Friday (R6)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657600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188720"/>
            <a:ext cx="365760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365 días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103120"/>
            <a:ext cx="3657600" cy="36576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329184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Hub logístico Recife/Salvador (R1)</a:t>
            </a:r>
          </a:p>
          <a:p>
            <a:pPr algn="l"/>
            <a:r>
              <a:rPr sz="1400" b="0" i="0">
                <a:solidFill>
                  <a:srgbClr val="1F3A68"/>
                </a:solidFill>
                <a:latin typeface="Calibri"/>
              </a:rPr>
              <a:t>Diversificación geográfica (R4)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852160"/>
            <a:ext cx="11338560" cy="6400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Calibri"/>
              </a:rPr>
              <a:t>Quick win: R3 + R7 en 90 días — pone a producir el modelo y a usar el dashboard semanalmente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5912" y="6446520"/>
            <a:ext cx="1280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07080"/>
                </a:solidFill>
                <a:latin typeface="Calibri"/>
              </a:rPr>
              <a:t>Olist · 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8. Limitaciones, ética y próximos pasos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577840" cy="5212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Calibri"/>
              </a:rPr>
              <a:t>Limitaciones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• Datos cerrados en 2018 (pre-pandemia)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• Sin texto de reseñas (NLP fuera de alcance)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• AUC=0.70: razonable, no excelente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5468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• Split aleatorio, no temporal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• Sin tuning exhaustivo (Optuna pendiente)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6052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• Validación observacional, no A/B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6344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F3A68"/>
                </a:solidFill>
                <a:latin typeface="Calibri"/>
              </a:rPr>
              <a:t>• Sesgo de selección regional (66% sudeste)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05840"/>
            <a:ext cx="5577840" cy="5212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14300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Ética + próximos pasos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64592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✓ Datos anonimizados desde la fuente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5740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✓ No usa variables protegidas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✓ Features operacionales (no socio-dem.)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8036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✓ Human-in-the-loop en intervenciones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9184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1F3A68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70332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1F3A68"/>
                </a:solidFill>
                <a:latin typeface="Calibri"/>
              </a:rPr>
              <a:t>Siguientes: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11480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1F3A68"/>
                </a:solidFill>
                <a:latin typeface="Calibri"/>
              </a:rPr>
              <a:t>• NLP sobre las reseñas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52628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1F3A68"/>
                </a:solidFill>
                <a:latin typeface="Calibri"/>
              </a:rPr>
              <a:t>• Modelo enriquecido + texto + RFM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93776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1F3A68"/>
                </a:solidFill>
                <a:latin typeface="Calibri"/>
              </a:rPr>
              <a:t>• Experimento A/B para validar R3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34924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1F3A68"/>
                </a:solidFill>
                <a:latin typeface="Calibri"/>
              </a:rPr>
              <a:t>• Refresco trimestral del modelo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5912" y="6446520"/>
            <a:ext cx="12801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07080"/>
                </a:solidFill>
                <a:latin typeface="Calibri"/>
              </a:rPr>
              <a:t>Olist · 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DB8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0879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08792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Las 5 fases cumplidas, los 7 artefactos entregados,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08792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FDB813"/>
                </a:solidFill>
                <a:latin typeface="Calibri"/>
              </a:rPr>
              <a:t>y un modelo en producción listo para impactar el CSAT.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0879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1">
                <a:solidFill>
                  <a:srgbClr val="FFFFFF"/>
                </a:solidFill>
                <a:latin typeface="Calibri"/>
              </a:rPr>
              <a:t>¿Preguntas?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90879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Carlos Alberto Moreno David · Juan Esteban García Ocampo · Emiliano Vélez Suárez · Sebastián Ciro Medellín · admmoreno.david@gmail.com · Mayo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